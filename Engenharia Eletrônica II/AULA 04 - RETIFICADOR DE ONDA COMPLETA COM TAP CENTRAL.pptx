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60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9" r:id="rId15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68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ABCB1-C42D-4467-B9E0-79B3E4453363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39AC4-A08C-4509-99C7-78694B42561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58992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373639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16643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" name="Google Shape;17;p2"/>
          <p:cNvGrpSpPr/>
          <p:nvPr/>
        </p:nvGrpSpPr>
        <p:grpSpPr>
          <a:xfrm>
            <a:off x="3677238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82;p6"/>
          <p:cNvGrpSpPr/>
          <p:nvPr/>
        </p:nvGrpSpPr>
        <p:grpSpPr>
          <a:xfrm>
            <a:off x="-4" y="41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Google Shape;90;p6"/>
          <p:cNvGrpSpPr/>
          <p:nvPr/>
        </p:nvGrpSpPr>
        <p:grpSpPr>
          <a:xfrm>
            <a:off x="6946842" y="4472724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CBF5-35B0-4510-AC8B-47EC68FBFC11}" type="datetimeFigureOut">
              <a:rPr lang="pt-BR" smtClean="0"/>
              <a:pPr/>
              <a:t>03/09/2020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32726-BCFB-4191-935B-8BE26F42DE6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35496" y="1131591"/>
            <a:ext cx="6768752" cy="28803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pt-BR" sz="3600" b="0" dirty="0" smtClean="0">
                <a:solidFill>
                  <a:schemeClr val="bg1"/>
                </a:solidFill>
                <a:latin typeface="Bahnschrift Light" pitchFamily="34" charset="0"/>
              </a:rPr>
              <a:t>ELETRÔNICA I</a:t>
            </a:r>
            <a:br>
              <a:rPr lang="pt-BR" sz="3600" b="0" dirty="0" smtClean="0">
                <a:solidFill>
                  <a:schemeClr val="bg1"/>
                </a:solidFill>
                <a:latin typeface="Bahnschrift Light" pitchFamily="34" charset="0"/>
              </a:rPr>
            </a:br>
            <a:r>
              <a:rPr lang="pt-BR" sz="3600" b="0" dirty="0" smtClean="0">
                <a:solidFill>
                  <a:schemeClr val="bg1"/>
                </a:solidFill>
                <a:latin typeface="Bahnschrift Light" pitchFamily="34" charset="0"/>
              </a:rPr>
              <a:t/>
            </a:r>
            <a:br>
              <a:rPr lang="pt-BR" sz="3600" b="0" dirty="0" smtClean="0">
                <a:solidFill>
                  <a:schemeClr val="bg1"/>
                </a:solidFill>
                <a:latin typeface="Bahnschrift Light" pitchFamily="34" charset="0"/>
              </a:rPr>
            </a:br>
            <a:r>
              <a:rPr lang="pt-BR" sz="3600" b="0" dirty="0" smtClean="0">
                <a:solidFill>
                  <a:schemeClr val="bg1"/>
                </a:solidFill>
                <a:latin typeface="Bahnschrift Light" pitchFamily="34" charset="0"/>
              </a:rPr>
              <a:t>RETIFICADOR DE ONDA </a:t>
            </a:r>
            <a:r>
              <a:rPr lang="pt-BR" sz="3600" dirty="0" smtClean="0">
                <a:solidFill>
                  <a:schemeClr val="bg1"/>
                </a:solidFill>
                <a:latin typeface="Bahnschrift Light" pitchFamily="34" charset="0"/>
              </a:rPr>
              <a:t>COMPLETA </a:t>
            </a:r>
            <a:r>
              <a:rPr lang="pt-BR" sz="3600" b="0" dirty="0" smtClean="0">
                <a:solidFill>
                  <a:schemeClr val="bg1"/>
                </a:solidFill>
                <a:latin typeface="Bahnschrift Light" pitchFamily="34" charset="0"/>
              </a:rPr>
              <a:t>COM DERIVAÇÃO CENTRAL</a:t>
            </a:r>
            <a:endParaRPr lang="pt-BR" sz="3600" b="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8194" name="AutoShape 2" descr="Resultado de imagem para ATOM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6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endParaRPr lang="pt-BR" sz="2800" dirty="0" smtClean="0"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" name="Picture 2" descr="http://dc432.4shared.com/doc/Ki6uCBTO/preview_html_e2aca5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5" y="1491630"/>
            <a:ext cx="7565337" cy="27543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6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O transformador abaixo possui 43,2 mil espiras no lado N1 e 3,6 mil espiras em N2, com uma derivação na espira 1200 (contada de baixo para cima). A tensão em N1 é de 240 Volts pico.</a:t>
            </a:r>
          </a:p>
          <a:p>
            <a:pPr marL="0" algn="just">
              <a:buNone/>
            </a:pP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Trace os gráficos das tensões V2a e V2b.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" descr="http://dc432.4shared.com/doc/Ki6uCBTO/preview_html_e2aca5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3939903"/>
            <a:ext cx="3096344" cy="109029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6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O transformador abaixo possui uma relação N1:N2 de 1 para 8, a tensão em N1 é de 3 Volts pico a pico. Este transformador possui uma derivação central. Trace os gráficos das tensões V2a e V2b.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Picture 2" descr="http://dc432.4shared.com/doc/Ki6uCBTO/preview_html_e2aca5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8" y="3363839"/>
            <a:ext cx="4118825" cy="14503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23528" y="195486"/>
            <a:ext cx="8350696" cy="972108"/>
          </a:xfrm>
        </p:spPr>
        <p:txBody>
          <a:bodyPr>
            <a:normAutofit fontScale="90000"/>
          </a:bodyPr>
          <a:lstStyle/>
          <a:p>
            <a:r>
              <a:rPr lang="pt-BR" sz="3200" b="1" dirty="0" smtClean="0">
                <a:solidFill>
                  <a:srgbClr val="002060"/>
                </a:solidFill>
              </a:rPr>
              <a:t>Eletrônica I – </a:t>
            </a:r>
            <a:r>
              <a:rPr lang="pt-BR" sz="3200" b="1" dirty="0" smtClean="0">
                <a:solidFill>
                  <a:srgbClr val="002060"/>
                </a:solidFill>
                <a:cs typeface="Arial" pitchFamily="34" charset="0"/>
              </a:rPr>
              <a:t>Retificador de Onda Completa com Derivação central</a:t>
            </a:r>
            <a:endParaRPr lang="pt-BR" sz="3200" b="1" dirty="0">
              <a:solidFill>
                <a:srgbClr val="002060"/>
              </a:solidFill>
            </a:endParaRPr>
          </a:p>
        </p:txBody>
      </p:sp>
      <p:grpSp>
        <p:nvGrpSpPr>
          <p:cNvPr id="3" name="Grupo 18"/>
          <p:cNvGrpSpPr/>
          <p:nvPr/>
        </p:nvGrpSpPr>
        <p:grpSpPr>
          <a:xfrm>
            <a:off x="2267744" y="1707655"/>
            <a:ext cx="4705350" cy="2840348"/>
            <a:chOff x="2267744" y="2996952"/>
            <a:chExt cx="4705350" cy="3067050"/>
          </a:xfrm>
        </p:grpSpPr>
        <p:pic>
          <p:nvPicPr>
            <p:cNvPr id="9" name="Imagem 8" descr="Retificador de onda completa com derivação central.bmp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44" y="2996952"/>
              <a:ext cx="4705350" cy="3067050"/>
            </a:xfrm>
            <a:prstGeom prst="rect">
              <a:avLst/>
            </a:prstGeom>
          </p:spPr>
        </p:pic>
        <p:sp>
          <p:nvSpPr>
            <p:cNvPr id="10" name="Retângulo 9"/>
            <p:cNvSpPr/>
            <p:nvPr/>
          </p:nvSpPr>
          <p:spPr>
            <a:xfrm>
              <a:off x="4139952" y="3861048"/>
              <a:ext cx="615874" cy="5649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2800" dirty="0" smtClean="0"/>
                <a:t>V</a:t>
              </a:r>
              <a:r>
                <a:rPr lang="pt-BR" dirty="0" smtClean="0"/>
                <a:t>2a</a:t>
              </a:r>
              <a:endParaRPr lang="pt-BR" dirty="0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4139952" y="4725144"/>
              <a:ext cx="627095" cy="5649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2800" dirty="0" smtClean="0"/>
                <a:t>V</a:t>
              </a:r>
              <a:r>
                <a:rPr lang="pt-BR" dirty="0" smtClean="0"/>
                <a:t>2b</a:t>
              </a:r>
              <a:endParaRPr lang="pt-BR" dirty="0"/>
            </a:p>
          </p:txBody>
        </p:sp>
        <p:cxnSp>
          <p:nvCxnSpPr>
            <p:cNvPr id="13" name="Conector de seta reta 12"/>
            <p:cNvCxnSpPr/>
            <p:nvPr/>
          </p:nvCxnSpPr>
          <p:spPr>
            <a:xfrm>
              <a:off x="4139952" y="4653136"/>
              <a:ext cx="0" cy="720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/>
            <p:cNvCxnSpPr/>
            <p:nvPr/>
          </p:nvCxnSpPr>
          <p:spPr>
            <a:xfrm flipV="1">
              <a:off x="4139952" y="3789040"/>
              <a:ext cx="0" cy="7200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6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Durante o semiciclo positivo o diodo de cima conduz e o diodo de baixo corta fazendo com que a tensão na carga seja positiva e igual à tensão no secundário do transformador V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2a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.</a:t>
            </a:r>
          </a:p>
          <a:p>
            <a:pPr marL="0" algn="just">
              <a:buNone/>
            </a:pP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Durante o semiciclo negativo, o diodo de cima corta e o de baixo conduz, fazendo com que a tensão na carga tenha a mesma polaridade da situação anterior V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2b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3" name="Google Shape;193;p12"/>
          <p:cNvSpPr txBox="1">
            <a:spLocks noGrp="1"/>
          </p:cNvSpPr>
          <p:nvPr>
            <p:ph type="body" idx="1"/>
          </p:nvPr>
        </p:nvSpPr>
        <p:spPr>
          <a:xfrm>
            <a:off x="251520" y="1347616"/>
            <a:ext cx="8568952" cy="3384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just">
              <a:buNone/>
            </a:pP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Neste caso a frequência da tensão de saída dobra de valor, portanto a tensão média na carga também dobra. Mas, por outro lado, a tensão de pico na carga é a metade da tensão de pico no secundário do transformador. </a:t>
            </a: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CaixaDeTexto 27"/>
          <p:cNvSpPr txBox="1"/>
          <p:nvPr/>
        </p:nvSpPr>
        <p:spPr>
          <a:xfrm>
            <a:off x="395536" y="1419622"/>
            <a:ext cx="82809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Portanto a tensão média final é a mesma que teríamos obtido usando um transformador de meia onda com o mesmo transformador.</a:t>
            </a:r>
          </a:p>
          <a:p>
            <a:pPr algn="just"/>
            <a:endParaRPr lang="pt-BR" sz="2800" dirty="0" smtClean="0">
              <a:solidFill>
                <a:srgbClr val="002060"/>
              </a:solidFill>
              <a:latin typeface="Bahnschrift Light" pitchFamily="34" charset="0"/>
            </a:endParaRPr>
          </a:p>
          <a:p>
            <a:pPr algn="just"/>
            <a:r>
              <a:rPr lang="pt-BR" sz="2800" dirty="0" err="1" smtClean="0">
                <a:solidFill>
                  <a:srgbClr val="002060"/>
                </a:solidFill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solidFill>
                  <a:srgbClr val="002060"/>
                </a:solidFill>
                <a:latin typeface="Bahnschrift Light" pitchFamily="34" charset="0"/>
              </a:rPr>
              <a:t>m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= 2 x </a:t>
            </a:r>
            <a:r>
              <a:rPr lang="pt-BR" sz="2800" u="sng" dirty="0" err="1" smtClean="0">
                <a:solidFill>
                  <a:srgbClr val="002060"/>
                </a:solidFill>
                <a:latin typeface="Bahnschrift Light" pitchFamily="34" charset="0"/>
              </a:rPr>
              <a:t>V</a:t>
            </a:r>
            <a:r>
              <a:rPr lang="pt-BR" sz="2000" u="sng" dirty="0" err="1" smtClean="0">
                <a:solidFill>
                  <a:srgbClr val="002060"/>
                </a:solidFill>
                <a:latin typeface="Bahnschrift Light" pitchFamily="34" charset="0"/>
              </a:rPr>
              <a:t>p</a:t>
            </a:r>
            <a:endParaRPr lang="pt-BR" u="sng" dirty="0" smtClean="0">
              <a:solidFill>
                <a:srgbClr val="002060"/>
              </a:solidFill>
              <a:latin typeface="Bahnschrift Light" pitchFamily="34" charset="0"/>
            </a:endParaRP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         </a:t>
            </a:r>
            <a:r>
              <a:rPr lang="pt-BR" sz="2800" u="sng" dirty="0" smtClean="0">
                <a:solidFill>
                  <a:srgbClr val="002060"/>
                </a:solidFill>
                <a:latin typeface="Bahnschrift Light" pitchFamily="34" charset="0"/>
              </a:rPr>
              <a:t>     2</a:t>
            </a: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	   </a:t>
            </a:r>
            <a:r>
              <a:rPr lang="el-GR" sz="2800" dirty="0" smtClean="0">
                <a:solidFill>
                  <a:srgbClr val="002060"/>
                </a:solidFill>
                <a:latin typeface="Bahnschrift Light" pitchFamily="34" charset="0"/>
              </a:rPr>
              <a:t>π</a:t>
            </a:r>
            <a:endParaRPr lang="pt-BR" sz="2800" dirty="0" smtClean="0">
              <a:solidFill>
                <a:srgbClr val="002060"/>
              </a:solidFill>
              <a:latin typeface="Bahnschrift Light" pitchFamily="34" charset="0"/>
            </a:endParaRP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            </a:t>
            </a:r>
            <a:endParaRPr lang="pt-BR" sz="2800" dirty="0">
              <a:solidFill>
                <a:srgbClr val="002060"/>
              </a:solidFill>
              <a:latin typeface="Bahnschrift Light" pitchFamily="34" charset="0"/>
            </a:endParaRPr>
          </a:p>
        </p:txBody>
      </p:sp>
      <p:grpSp>
        <p:nvGrpSpPr>
          <p:cNvPr id="29" name="Grupo 12"/>
          <p:cNvGrpSpPr/>
          <p:nvPr/>
        </p:nvGrpSpPr>
        <p:grpSpPr>
          <a:xfrm>
            <a:off x="2699792" y="3003799"/>
            <a:ext cx="5544616" cy="1534671"/>
            <a:chOff x="2555776" y="4293096"/>
            <a:chExt cx="5544616" cy="2046228"/>
          </a:xfrm>
        </p:grpSpPr>
        <p:sp>
          <p:nvSpPr>
            <p:cNvPr id="30" name="Retângulo 29"/>
            <p:cNvSpPr/>
            <p:nvPr/>
          </p:nvSpPr>
          <p:spPr>
            <a:xfrm>
              <a:off x="2555776" y="4293096"/>
              <a:ext cx="1368152" cy="12721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2800" dirty="0" smtClean="0">
                  <a:solidFill>
                    <a:srgbClr val="002060"/>
                  </a:solidFill>
                  <a:latin typeface="Bahnschrift Light" pitchFamily="34" charset="0"/>
                </a:rPr>
                <a:t>Ou seja:  </a:t>
              </a:r>
              <a:endParaRPr lang="pt-BR" sz="2800" dirty="0">
                <a:solidFill>
                  <a:srgbClr val="002060"/>
                </a:solidFill>
                <a:latin typeface="Bahnschrift Light" pitchFamily="34" charset="0"/>
              </a:endParaRPr>
            </a:p>
          </p:txBody>
        </p:sp>
        <p:sp>
          <p:nvSpPr>
            <p:cNvPr id="31" name="Retângulo 30"/>
            <p:cNvSpPr/>
            <p:nvPr/>
          </p:nvSpPr>
          <p:spPr>
            <a:xfrm>
              <a:off x="3995936" y="5067181"/>
              <a:ext cx="4104456" cy="12721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pt-BR" sz="2800" dirty="0" err="1" smtClean="0">
                  <a:solidFill>
                    <a:srgbClr val="002060"/>
                  </a:solidFill>
                </a:rPr>
                <a:t>V</a:t>
              </a:r>
              <a:r>
                <a:rPr lang="pt-BR" sz="2000" dirty="0" err="1" smtClean="0">
                  <a:solidFill>
                    <a:srgbClr val="002060"/>
                  </a:solidFill>
                </a:rPr>
                <a:t>m</a:t>
              </a:r>
              <a:r>
                <a:rPr lang="pt-BR" sz="2800" dirty="0" smtClean="0">
                  <a:solidFill>
                    <a:srgbClr val="002060"/>
                  </a:solidFill>
                </a:rPr>
                <a:t> = </a:t>
              </a:r>
              <a:r>
                <a:rPr lang="pt-BR" sz="2800" u="sng" dirty="0" err="1" smtClean="0">
                  <a:solidFill>
                    <a:srgbClr val="002060"/>
                  </a:solidFill>
                </a:rPr>
                <a:t>V</a:t>
              </a:r>
              <a:r>
                <a:rPr lang="pt-BR" sz="2000" u="sng" dirty="0" err="1" smtClean="0">
                  <a:solidFill>
                    <a:srgbClr val="002060"/>
                  </a:solidFill>
                </a:rPr>
                <a:t>p</a:t>
              </a:r>
              <a:r>
                <a:rPr lang="pt-BR" sz="2000" u="sng" dirty="0" smtClean="0">
                  <a:solidFill>
                    <a:srgbClr val="002060"/>
                  </a:solidFill>
                </a:rPr>
                <a:t> </a:t>
              </a:r>
              <a:r>
                <a:rPr lang="pt-BR" sz="2000" dirty="0" smtClean="0">
                  <a:solidFill>
                    <a:srgbClr val="002060"/>
                  </a:solidFill>
                </a:rPr>
                <a:t>                </a:t>
              </a:r>
              <a:r>
                <a:rPr lang="pt-BR" sz="2800" dirty="0" err="1" smtClean="0">
                  <a:solidFill>
                    <a:srgbClr val="002060"/>
                  </a:solidFill>
                </a:rPr>
                <a:t>V</a:t>
              </a:r>
              <a:r>
                <a:rPr lang="pt-BR" sz="2000" dirty="0" err="1" smtClean="0">
                  <a:solidFill>
                    <a:srgbClr val="002060"/>
                  </a:solidFill>
                </a:rPr>
                <a:t>m</a:t>
              </a:r>
              <a:r>
                <a:rPr lang="pt-BR" sz="2800" dirty="0" smtClean="0">
                  <a:solidFill>
                    <a:srgbClr val="002060"/>
                  </a:solidFill>
                </a:rPr>
                <a:t> = </a:t>
              </a:r>
              <a:r>
                <a:rPr lang="pt-BR" sz="2800" u="sng" dirty="0" err="1" smtClean="0">
                  <a:solidFill>
                    <a:srgbClr val="002060"/>
                  </a:solidFill>
                </a:rPr>
                <a:t>V</a:t>
              </a:r>
              <a:r>
                <a:rPr lang="pt-BR" sz="2000" u="sng" dirty="0" err="1" smtClean="0">
                  <a:solidFill>
                    <a:srgbClr val="002060"/>
                  </a:solidFill>
                </a:rPr>
                <a:t>p</a:t>
              </a:r>
              <a:r>
                <a:rPr lang="pt-BR" sz="2000" u="sng" dirty="0" smtClean="0">
                  <a:solidFill>
                    <a:srgbClr val="002060"/>
                  </a:solidFill>
                </a:rPr>
                <a:t> - </a:t>
              </a:r>
              <a:r>
                <a:rPr lang="pt-BR" sz="2800" u="sng" dirty="0" smtClean="0">
                  <a:solidFill>
                    <a:srgbClr val="002060"/>
                  </a:solidFill>
                </a:rPr>
                <a:t>2V</a:t>
              </a:r>
              <a:r>
                <a:rPr lang="el-GR" sz="2000" u="sng" dirty="0" smtClean="0">
                  <a:solidFill>
                    <a:srgbClr val="002060"/>
                  </a:solidFill>
                </a:rPr>
                <a:t>γ</a:t>
              </a:r>
              <a:endParaRPr lang="pt-BR" sz="2800" u="sng" dirty="0" smtClean="0">
                <a:solidFill>
                  <a:srgbClr val="002060"/>
                </a:solidFill>
              </a:endParaRPr>
            </a:p>
            <a:p>
              <a:pPr algn="just"/>
              <a:r>
                <a:rPr lang="pt-BR" sz="2800" dirty="0" smtClean="0">
                  <a:solidFill>
                    <a:srgbClr val="002060"/>
                  </a:solidFill>
                </a:rPr>
                <a:t>          </a:t>
              </a:r>
              <a:r>
                <a:rPr lang="el-GR" sz="2800" dirty="0" smtClean="0">
                  <a:solidFill>
                    <a:srgbClr val="002060"/>
                  </a:solidFill>
                </a:rPr>
                <a:t>π</a:t>
              </a:r>
              <a:r>
                <a:rPr lang="pt-BR" sz="2800" dirty="0" smtClean="0">
                  <a:solidFill>
                    <a:srgbClr val="002060"/>
                  </a:solidFill>
                </a:rPr>
                <a:t>                          </a:t>
              </a:r>
              <a:r>
                <a:rPr lang="el-GR" sz="2800" dirty="0" smtClean="0">
                  <a:solidFill>
                    <a:srgbClr val="002060"/>
                  </a:solidFill>
                </a:rPr>
                <a:t>π</a:t>
              </a:r>
              <a:r>
                <a:rPr lang="pt-BR" sz="2800" dirty="0" smtClean="0">
                  <a:solidFill>
                    <a:srgbClr val="002060"/>
                  </a:solidFill>
                </a:rPr>
                <a:t>            </a:t>
              </a:r>
              <a:endParaRPr lang="pt-BR" sz="2800" dirty="0">
                <a:solidFill>
                  <a:srgbClr val="002060"/>
                </a:solidFill>
              </a:endParaRPr>
            </a:p>
          </p:txBody>
        </p:sp>
        <p:sp>
          <p:nvSpPr>
            <p:cNvPr id="32" name="Retângulo 31"/>
            <p:cNvSpPr/>
            <p:nvPr/>
          </p:nvSpPr>
          <p:spPr>
            <a:xfrm>
              <a:off x="3779912" y="4293096"/>
              <a:ext cx="4176464" cy="6976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2800" dirty="0" smtClean="0">
                  <a:solidFill>
                    <a:srgbClr val="002060"/>
                  </a:solidFill>
                  <a:latin typeface="Bahnschrift Light" pitchFamily="34" charset="0"/>
                </a:rPr>
                <a:t>Diodo ideal      Diodo real </a:t>
              </a:r>
              <a:endParaRPr lang="pt-BR" sz="2800" dirty="0">
                <a:solidFill>
                  <a:srgbClr val="002060"/>
                </a:solidFill>
                <a:latin typeface="Bahnschrift Light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CaixaDeTexto 27"/>
          <p:cNvSpPr txBox="1"/>
          <p:nvPr/>
        </p:nvSpPr>
        <p:spPr>
          <a:xfrm>
            <a:off x="395536" y="1419622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A vantagem deste retificador está na especificação do diodo e na qualidade da filtragem.</a:t>
            </a: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A corrente média na carga se obtém por:</a:t>
            </a:r>
          </a:p>
          <a:p>
            <a:pPr algn="just"/>
            <a:endParaRPr lang="pt-BR" sz="2800" dirty="0" smtClean="0">
              <a:solidFill>
                <a:srgbClr val="002060"/>
              </a:solidFill>
              <a:latin typeface="Bahnschrift Light" pitchFamily="34" charset="0"/>
            </a:endParaRP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</a:t>
            </a:r>
            <a:r>
              <a:rPr lang="pt-BR" sz="2800" dirty="0" err="1" smtClean="0">
                <a:solidFill>
                  <a:srgbClr val="002060"/>
                </a:solidFill>
                <a:latin typeface="Bahnschrift Light" pitchFamily="34" charset="0"/>
              </a:rPr>
              <a:t>I</a:t>
            </a:r>
            <a:r>
              <a:rPr lang="pt-BR" sz="2800" baseline="-25000" dirty="0" err="1" smtClean="0">
                <a:solidFill>
                  <a:srgbClr val="002060"/>
                </a:solidFill>
                <a:latin typeface="Bahnschrift Light" pitchFamily="34" charset="0"/>
              </a:rPr>
              <a:t>m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= </a:t>
            </a:r>
            <a:r>
              <a:rPr lang="pt-BR" sz="2800" dirty="0" err="1" smtClean="0">
                <a:solidFill>
                  <a:srgbClr val="002060"/>
                </a:solidFill>
                <a:latin typeface="Bahnschrift Light" pitchFamily="34" charset="0"/>
              </a:rPr>
              <a:t>V</a:t>
            </a:r>
            <a:r>
              <a:rPr lang="pt-BR" sz="2800" baseline="-25000" dirty="0" err="1" smtClean="0">
                <a:solidFill>
                  <a:srgbClr val="002060"/>
                </a:solidFill>
                <a:latin typeface="Bahnschrift Light" pitchFamily="34" charset="0"/>
              </a:rPr>
              <a:t>m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/R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L</a:t>
            </a:r>
          </a:p>
          <a:p>
            <a:pPr algn="just"/>
            <a:endParaRPr lang="pt-BR" sz="2800" dirty="0">
              <a:solidFill>
                <a:srgbClr val="002060"/>
              </a:solidFill>
              <a:latin typeface="Bahnschrift 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CaixaDeTexto 27"/>
          <p:cNvSpPr txBox="1"/>
          <p:nvPr/>
        </p:nvSpPr>
        <p:spPr>
          <a:xfrm>
            <a:off x="395536" y="1419622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Como cada um dos diodos conduz apenas em um semiciclo a corrente que ele deve suportar é a metade da corrente média na carga. </a:t>
            </a: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E a tensão reversa que os diodos devem suportar é a tensão de pico no secundário V2a ou V2b.</a:t>
            </a:r>
          </a:p>
          <a:p>
            <a:pPr algn="just"/>
            <a:endParaRPr lang="pt-BR" sz="2800" dirty="0">
              <a:solidFill>
                <a:srgbClr val="002060"/>
              </a:solidFill>
              <a:latin typeface="Bahnschrift 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CaixaDeTexto 27"/>
          <p:cNvSpPr txBox="1"/>
          <p:nvPr/>
        </p:nvSpPr>
        <p:spPr>
          <a:xfrm>
            <a:off x="395536" y="1419623"/>
            <a:ext cx="82809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Desta forma, para que o diodo não queime, ele deve suportar tanto a metade da corrente média quanto da tensão de pico reversa.</a:t>
            </a:r>
          </a:p>
          <a:p>
            <a:pPr algn="just"/>
            <a:endParaRPr lang="pt-BR" sz="2800" dirty="0" smtClean="0">
              <a:solidFill>
                <a:srgbClr val="002060"/>
              </a:solidFill>
              <a:latin typeface="Bahnschrift Light" pitchFamily="34" charset="0"/>
            </a:endParaRP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I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DM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&gt;=</a:t>
            </a:r>
            <a:r>
              <a:rPr lang="pt-BR" sz="2800" u="sng" dirty="0" err="1" smtClean="0">
                <a:solidFill>
                  <a:srgbClr val="002060"/>
                </a:solidFill>
                <a:latin typeface="Bahnschrift Light" pitchFamily="34" charset="0"/>
              </a:rPr>
              <a:t>I</a:t>
            </a:r>
            <a:r>
              <a:rPr lang="pt-BR" sz="2000" u="sng" dirty="0" err="1" smtClean="0">
                <a:solidFill>
                  <a:srgbClr val="002060"/>
                </a:solidFill>
                <a:latin typeface="Bahnschrift Light" pitchFamily="34" charset="0"/>
              </a:rPr>
              <a:t>m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  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    e        V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BR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&gt;=V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2a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  ou    V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BR</a:t>
            </a:r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&gt;=V</a:t>
            </a:r>
            <a:r>
              <a:rPr lang="pt-BR" sz="2800" baseline="-25000" dirty="0" smtClean="0">
                <a:solidFill>
                  <a:srgbClr val="002060"/>
                </a:solidFill>
                <a:latin typeface="Bahnschrift Light" pitchFamily="34" charset="0"/>
              </a:rPr>
              <a:t>2b</a:t>
            </a:r>
          </a:p>
          <a:p>
            <a:pPr algn="just"/>
            <a:r>
              <a:rPr lang="pt-BR" sz="2800" dirty="0" smtClean="0">
                <a:solidFill>
                  <a:srgbClr val="002060"/>
                </a:solidFill>
                <a:latin typeface="Bahnschrift Light" pitchFamily="34" charset="0"/>
              </a:rPr>
              <a:t>          2</a:t>
            </a:r>
          </a:p>
          <a:p>
            <a:pPr algn="just"/>
            <a:endParaRPr lang="pt-BR" sz="2800" dirty="0">
              <a:solidFill>
                <a:srgbClr val="002060"/>
              </a:solidFill>
              <a:latin typeface="Bahnschrift 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Retângulo 21"/>
          <p:cNvSpPr/>
          <p:nvPr/>
        </p:nvSpPr>
        <p:spPr>
          <a:xfrm>
            <a:off x="323528" y="1419622"/>
            <a:ext cx="85689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Um transformador com derivação central no secundário, relação N1:N2 de 10:1 possui 40 V</a:t>
            </a:r>
            <a:r>
              <a:rPr lang="pt-BR" sz="2400" baseline="-25000" dirty="0" smtClean="0">
                <a:solidFill>
                  <a:srgbClr val="002060"/>
                </a:solidFill>
                <a:latin typeface="Bahnschrift Light" pitchFamily="34" charset="0"/>
              </a:rPr>
              <a:t>rms</a:t>
            </a: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 no primário. Ligado a um retificador de onda completa com diodos de silício e com uma carga de 10 </a:t>
            </a:r>
            <a:r>
              <a:rPr lang="el-GR" sz="2400" dirty="0" smtClean="0">
                <a:solidFill>
                  <a:srgbClr val="002060"/>
                </a:solidFill>
                <a:latin typeface="Bahnschrift Light" pitchFamily="34" charset="0"/>
              </a:rPr>
              <a:t>Ω</a:t>
            </a: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. Determine: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Tensão média na carga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Corrente média na carga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Especificações do diodo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Formas de onda: V</a:t>
            </a:r>
            <a:r>
              <a:rPr lang="pt-BR" sz="2400" baseline="-25000" dirty="0" smtClean="0">
                <a:solidFill>
                  <a:srgbClr val="002060"/>
                </a:solidFill>
                <a:latin typeface="Bahnschrift Light" pitchFamily="34" charset="0"/>
              </a:rPr>
              <a:t>2p</a:t>
            </a: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, V</a:t>
            </a:r>
            <a:r>
              <a:rPr lang="pt-BR" sz="2400" baseline="-25000" dirty="0" smtClean="0">
                <a:solidFill>
                  <a:srgbClr val="002060"/>
                </a:solidFill>
                <a:latin typeface="Bahnschrift Light" pitchFamily="34" charset="0"/>
              </a:rPr>
              <a:t>2a</a:t>
            </a: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, V</a:t>
            </a:r>
            <a:r>
              <a:rPr lang="pt-BR" sz="2400" baseline="-25000" dirty="0" smtClean="0">
                <a:solidFill>
                  <a:srgbClr val="002060"/>
                </a:solidFill>
                <a:latin typeface="Bahnschrift Light" pitchFamily="34" charset="0"/>
              </a:rPr>
              <a:t>2b</a:t>
            </a: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, tensão na carga, tensão no diodo a e tensão no diodo b. </a:t>
            </a:r>
            <a:endParaRPr lang="pt-BR" sz="2400" dirty="0">
              <a:solidFill>
                <a:srgbClr val="002060"/>
              </a:solidFill>
              <a:latin typeface="Bahnschrift 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6" y="392575"/>
            <a:ext cx="5485917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</a:rPr>
              <a:t>ELETRÔNICA I – </a:t>
            </a:r>
            <a:r>
              <a:rPr lang="pt-BR" sz="2000" dirty="0" smtClean="0">
                <a:solidFill>
                  <a:schemeClr val="bg1"/>
                </a:solidFill>
                <a:latin typeface="Bahnschrift Light" pitchFamily="34" charset="0"/>
                <a:cs typeface="Arial" pitchFamily="34" charset="0"/>
              </a:rPr>
              <a:t>RETIFICADOR DE ONDA COMPLETA COM DERIVAÇÃO CENTRAL</a:t>
            </a:r>
            <a:endParaRPr sz="2000" dirty="0">
              <a:solidFill>
                <a:schemeClr val="bg1"/>
              </a:solidFill>
              <a:latin typeface="Bahnschrift Light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5" y="574117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Retângulo 21"/>
          <p:cNvSpPr/>
          <p:nvPr/>
        </p:nvSpPr>
        <p:spPr>
          <a:xfrm>
            <a:off x="323528" y="1419622"/>
            <a:ext cx="85689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Um transformador com derivação central no secundário, relação N1:N2 de 1:10 possui 5 V</a:t>
            </a:r>
            <a:r>
              <a:rPr lang="pt-BR" sz="2400" baseline="-25000" dirty="0" smtClean="0">
                <a:solidFill>
                  <a:srgbClr val="002060"/>
                </a:solidFill>
                <a:latin typeface="Bahnschrift Light" pitchFamily="34" charset="0"/>
              </a:rPr>
              <a:t>rms</a:t>
            </a:r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 no primário. Ligado a um retificador de onda completa com diodos de silício e com uma carga de 100 Ω. Determine: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Tensão média na carga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Corrente média na carga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Especificações do diodo</a:t>
            </a:r>
          </a:p>
          <a:p>
            <a:pPr algn="just"/>
            <a:r>
              <a:rPr lang="pt-BR" sz="2400" dirty="0" smtClean="0">
                <a:solidFill>
                  <a:srgbClr val="002060"/>
                </a:solidFill>
                <a:latin typeface="Bahnschrift Light" pitchFamily="34" charset="0"/>
              </a:rPr>
              <a:t>Qual a corrente mínima no primário para suprir esta carga?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"/>
          <p:cNvSpPr txBox="1">
            <a:spLocks noGrp="1"/>
          </p:cNvSpPr>
          <p:nvPr>
            <p:ph type="sldNum" sz="quarter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ctrTitle" idx="4294967295"/>
          </p:nvPr>
        </p:nvSpPr>
        <p:spPr>
          <a:xfrm>
            <a:off x="1217885" y="2363788"/>
            <a:ext cx="6594475" cy="11604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FF9800"/>
                </a:solidFill>
              </a:rPr>
              <a:t>THANKS!</a:t>
            </a:r>
            <a:endParaRPr sz="6000" dirty="0">
              <a:solidFill>
                <a:srgbClr val="FF9800"/>
              </a:solidFill>
            </a:endParaRPr>
          </a:p>
        </p:txBody>
      </p:sp>
      <p:sp>
        <p:nvSpPr>
          <p:cNvPr id="504" name="Google Shape;504;p34"/>
          <p:cNvSpPr txBox="1">
            <a:spLocks noGrp="1"/>
          </p:cNvSpPr>
          <p:nvPr>
            <p:ph type="subTitle" idx="4294967295"/>
          </p:nvPr>
        </p:nvSpPr>
        <p:spPr>
          <a:xfrm>
            <a:off x="1217885" y="3230563"/>
            <a:ext cx="6594475" cy="13414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Any questions</a:t>
            </a:r>
            <a:r>
              <a:rPr lang="en" sz="2000" b="1" dirty="0" smtClean="0"/>
              <a:t>?</a:t>
            </a:r>
            <a:endParaRPr sz="2000" b="1" dirty="0"/>
          </a:p>
        </p:txBody>
      </p:sp>
      <p:grpSp>
        <p:nvGrpSpPr>
          <p:cNvPr id="2" name="Google Shape;505;p34"/>
          <p:cNvGrpSpPr/>
          <p:nvPr/>
        </p:nvGrpSpPr>
        <p:grpSpPr>
          <a:xfrm>
            <a:off x="3916290" y="966819"/>
            <a:ext cx="1197664" cy="1126777"/>
            <a:chOff x="5972700" y="2330200"/>
            <a:chExt cx="411625" cy="387275"/>
          </a:xfrm>
        </p:grpSpPr>
        <p:sp>
          <p:nvSpPr>
            <p:cNvPr id="506" name="Google Shape;506;p34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0" t="0" r="0" b="0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0" t="0" r="0" b="0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1366</TotalTime>
  <Words>635</Words>
  <Application>Microsoft Office PowerPoint</Application>
  <PresentationFormat>Apresentação na tela (16:9)</PresentationFormat>
  <Paragraphs>65</Paragraphs>
  <Slides>14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ELETRÔNICA I 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ELETRÔNICA I – RETIFICADOR DE ONDA COMPLETA COM DERIVAÇÃO CENTRAL</vt:lpstr>
      <vt:lpstr>THANKS!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ELETRÔNICA I  RETIFICADOR DE MEIA ONDA COM DERIVAÇÃO CENTRAL</dc:title>
  <dc:creator>Hudson Capanema</dc:creator>
  <cp:lastModifiedBy>Hudson Capanema</cp:lastModifiedBy>
  <cp:revision>6</cp:revision>
  <dcterms:created xsi:type="dcterms:W3CDTF">2020-03-18T21:12:22Z</dcterms:created>
  <dcterms:modified xsi:type="dcterms:W3CDTF">2020-09-03T21:32:18Z</dcterms:modified>
</cp:coreProperties>
</file>