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Default Extension="gif" ContentType="image/gif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31"/>
  </p:notesMasterIdLst>
  <p:sldIdLst>
    <p:sldId id="256" r:id="rId2"/>
    <p:sldId id="259" r:id="rId3"/>
    <p:sldId id="284" r:id="rId4"/>
    <p:sldId id="350" r:id="rId5"/>
    <p:sldId id="351" r:id="rId6"/>
    <p:sldId id="352" r:id="rId7"/>
    <p:sldId id="353" r:id="rId8"/>
    <p:sldId id="324" r:id="rId9"/>
    <p:sldId id="355" r:id="rId10"/>
    <p:sldId id="356" r:id="rId11"/>
    <p:sldId id="357" r:id="rId12"/>
    <p:sldId id="358" r:id="rId13"/>
    <p:sldId id="359" r:id="rId14"/>
    <p:sldId id="360" r:id="rId15"/>
    <p:sldId id="361" r:id="rId16"/>
    <p:sldId id="362" r:id="rId17"/>
    <p:sldId id="363" r:id="rId18"/>
    <p:sldId id="364" r:id="rId19"/>
    <p:sldId id="365" r:id="rId20"/>
    <p:sldId id="366" r:id="rId21"/>
    <p:sldId id="367" r:id="rId22"/>
    <p:sldId id="368" r:id="rId23"/>
    <p:sldId id="370" r:id="rId24"/>
    <p:sldId id="369" r:id="rId25"/>
    <p:sldId id="371" r:id="rId26"/>
    <p:sldId id="372" r:id="rId27"/>
    <p:sldId id="373" r:id="rId28"/>
    <p:sldId id="374" r:id="rId29"/>
    <p:sldId id="354" r:id="rId30"/>
  </p:sldIdLst>
  <p:sldSz cx="9144000" cy="5143500" type="screen16x9"/>
  <p:notesSz cx="6858000" cy="9144000"/>
  <p:embeddedFontLst>
    <p:embeddedFont>
      <p:font typeface="Bahnschrift Light" pitchFamily="34" charset="0"/>
      <p:regular r:id="rId32"/>
    </p:embeddedFont>
    <p:embeddedFont>
      <p:font typeface="Roboto Condensed" charset="0"/>
      <p:regular r:id="rId33"/>
      <p:bold r:id="rId34"/>
      <p:italic r:id="rId35"/>
      <p:boldItalic r:id="rId36"/>
    </p:embeddedFont>
    <p:embeddedFont>
      <p:font typeface="Roboto Condensed Light" charset="0"/>
      <p:regular r:id="rId37"/>
      <p:bold r:id="rId38"/>
      <p:italic r:id="rId39"/>
      <p:boldItalic r:id="rId40"/>
    </p:embeddedFont>
    <p:embeddedFont>
      <p:font typeface="Arvo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2A86F63A-29D5-45B3-998B-8ACA1B573FDA}">
  <a:tblStyle styleId="{2A86F63A-29D5-45B3-998B-8ACA1B573F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768" y="-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xmlns="" val="383664043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5899266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4189143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373639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3736390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3736390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3736390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3736390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1664381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3736390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3736390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3736390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3736390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4189143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3736390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3736390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3736390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3736390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1664381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3736390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3736390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4189143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3736390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1664381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3736390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1664381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1664381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1664381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16643813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166438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5697214" y="2635519"/>
            <a:ext cx="889200" cy="2964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25" name="Google Shape;25;p3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26" name="Google Shape;26;p3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28" name="Google Shape;28;p3"/>
          <p:cNvGrpSpPr/>
          <p:nvPr/>
        </p:nvGrpSpPr>
        <p:grpSpPr>
          <a:xfrm rot="10800000" flipH="1">
            <a:off x="-2" y="2924826"/>
            <a:ext cx="6589087" cy="2027268"/>
            <a:chOff x="-9894852" y="-4493254"/>
            <a:chExt cx="21200407" cy="6522740"/>
          </a:xfrm>
        </p:grpSpPr>
        <p:sp>
          <p:nvSpPr>
            <p:cNvPr id="29" name="Google Shape;29;p3"/>
            <p:cNvSpPr/>
            <p:nvPr/>
          </p:nvSpPr>
          <p:spPr>
            <a:xfrm>
              <a:off x="-9894852" y="-4493114"/>
              <a:ext cx="146853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31" name="Google Shape;31;p3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" name="Google Shape;33;p3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34" name="Google Shape;34;p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" name="Google Shape;36;p3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37" name="Google Shape;37;p3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9" name="Google Shape;39;p3"/>
          <p:cNvSpPr txBox="1">
            <a:spLocks noGrp="1"/>
          </p:cNvSpPr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ubTitle" idx="1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3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83" name="Google Shape;83;p6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84" name="Google Shape;84;p6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87" name="Google Shape;87;p6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88" name="Google Shape;88;p6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90" name="Google Shape;90;p6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91" name="Google Shape;91;p6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92;p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93" name="Google Shape;93;p6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96" name="Google Shape;96;p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1" name="Google Shape;101;p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  <p:grpSp>
        <p:nvGrpSpPr>
          <p:cNvPr id="164" name="Google Shape;164;p10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65" name="Google Shape;165;p10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6" name="Google Shape;166;p10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67" name="Google Shape;167;p10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0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10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70" name="Google Shape;170;p1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0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2" name="Google Shape;172;p10"/>
          <p:cNvGrpSpPr/>
          <p:nvPr/>
        </p:nvGrpSpPr>
        <p:grpSpPr>
          <a:xfrm rot="10800000">
            <a:off x="-8" y="-2"/>
            <a:ext cx="2202830" cy="670795"/>
            <a:chOff x="5575242" y="4472723"/>
            <a:chExt cx="2202830" cy="670795"/>
          </a:xfrm>
        </p:grpSpPr>
        <p:sp>
          <p:nvSpPr>
            <p:cNvPr id="173" name="Google Shape;173;p10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4" name="Google Shape;174;p10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75" name="Google Shape;175;p10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0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7" name="Google Shape;177;p10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78" name="Google Shape;178;p1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10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6" r:id="rId4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35496" y="1131590"/>
            <a:ext cx="5688632" cy="28803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dirty="0" smtClean="0">
                <a:latin typeface="Bahnschrift Light" pitchFamily="34" charset="0"/>
              </a:rPr>
              <a:t>Eletrônica</a:t>
            </a:r>
            <a:endParaRPr lang="pt-BR" dirty="0">
              <a:latin typeface="Bahnschrift Light" pitchFamily="34" charset="0"/>
            </a:endParaRPr>
          </a:p>
        </p:txBody>
      </p:sp>
      <p:sp>
        <p:nvSpPr>
          <p:cNvPr id="8194" name="AutoShape 2" descr="Resultado de imagem para ATOMO 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"/>
          <p:cNvSpPr txBox="1">
            <a:spLocks noGrp="1"/>
          </p:cNvSpPr>
          <p:nvPr>
            <p:ph type="ctrTitle"/>
          </p:nvPr>
        </p:nvSpPr>
        <p:spPr>
          <a:xfrm>
            <a:off x="463524" y="2871148"/>
            <a:ext cx="5476627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CIRCUITOS COM DIODOS</a:t>
            </a:r>
            <a:endParaRPr dirty="0"/>
          </a:p>
        </p:txBody>
      </p:sp>
      <p:sp>
        <p:nvSpPr>
          <p:cNvPr id="222" name="Google Shape;222;p14"/>
          <p:cNvSpPr txBox="1">
            <a:spLocks noGrp="1"/>
          </p:cNvSpPr>
          <p:nvPr>
            <p:ph type="subTitle" idx="1"/>
          </p:nvPr>
        </p:nvSpPr>
        <p:spPr>
          <a:xfrm>
            <a:off x="463524" y="3975449"/>
            <a:ext cx="4612532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000"/>
              </a:spcAft>
            </a:pPr>
            <a:endParaRPr lang="pt-BR" dirty="0"/>
          </a:p>
        </p:txBody>
      </p:sp>
      <p:sp>
        <p:nvSpPr>
          <p:cNvPr id="223" name="Google Shape;223;p1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  <p:sp>
        <p:nvSpPr>
          <p:cNvPr id="224" name="Google Shape;224;p14"/>
          <p:cNvSpPr txBox="1"/>
          <p:nvPr/>
        </p:nvSpPr>
        <p:spPr>
          <a:xfrm>
            <a:off x="463525" y="0"/>
            <a:ext cx="2181600" cy="31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</a:t>
            </a:r>
            <a:endParaRPr sz="3000" b="1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Bahnschrift Light" pitchFamily="34" charset="0"/>
              </a:rPr>
              <a:t>CIRCUITOS COM DIODOS</a:t>
            </a:r>
            <a:endParaRPr dirty="0">
              <a:latin typeface="Bahnschrift Light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  <p:sp>
        <p:nvSpPr>
          <p:cNvPr id="193" name="Google Shape;193;p12"/>
          <p:cNvSpPr txBox="1">
            <a:spLocks noGrp="1"/>
          </p:cNvSpPr>
          <p:nvPr>
            <p:ph type="body" idx="1"/>
          </p:nvPr>
        </p:nvSpPr>
        <p:spPr>
          <a:xfrm>
            <a:off x="251520" y="1347615"/>
            <a:ext cx="8568952" cy="30963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algn="just">
              <a:spcBef>
                <a:spcPts val="0"/>
              </a:spcBef>
              <a:buNone/>
            </a:pPr>
            <a:r>
              <a:rPr lang="pt-BR" sz="2400" dirty="0" smtClean="0">
                <a:latin typeface="Bahnschrift Light" pitchFamily="34" charset="0"/>
              </a:rPr>
              <a:t>	Conceito de Reta de Carga - A ligação de um diodo a uma fonte de alimentação deve ser feita sempre utilizando um resistor limitador em série para protegê-lo contra a corrente máxima.</a:t>
            </a:r>
            <a:endParaRPr dirty="0">
              <a:latin typeface="Bahnschrift Light" pitchFamily="34" charset="0"/>
            </a:endParaRPr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2" name="Picture 2" descr="https://encrypted-tbn2.gstatic.com/images?q=tbn:ANd9GcRJeegwNkK8pLlSmDpv0XZTp6Qb6sL2hHsGNFh8M09sA7m07Gn2L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27984" y="2859782"/>
            <a:ext cx="2609850" cy="1752600"/>
          </a:xfrm>
          <a:prstGeom prst="rect">
            <a:avLst/>
          </a:prstGeom>
          <a:noFill/>
        </p:spPr>
      </p:pic>
      <p:pic>
        <p:nvPicPr>
          <p:cNvPr id="86018" name="Picture 2" descr="Resultado de imagem para RESISTOR 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59632" y="3075806"/>
            <a:ext cx="3048000" cy="114300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Bahnschrift Light" pitchFamily="34" charset="0"/>
              </a:rPr>
              <a:t>CIRCUITOS COM DIODOS</a:t>
            </a:r>
            <a:endParaRPr dirty="0">
              <a:latin typeface="Bahnschrift Light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/>
          </a:p>
        </p:txBody>
      </p:sp>
      <p:sp>
        <p:nvSpPr>
          <p:cNvPr id="193" name="Google Shape;193;p12"/>
          <p:cNvSpPr txBox="1">
            <a:spLocks noGrp="1"/>
          </p:cNvSpPr>
          <p:nvPr>
            <p:ph type="body" idx="1"/>
          </p:nvPr>
        </p:nvSpPr>
        <p:spPr>
          <a:xfrm>
            <a:off x="251520" y="1347615"/>
            <a:ext cx="5184576" cy="30963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algn="just">
              <a:spcBef>
                <a:spcPts val="0"/>
              </a:spcBef>
              <a:buNone/>
            </a:pPr>
            <a:r>
              <a:rPr lang="pt-BR" sz="2400" dirty="0" smtClean="0">
                <a:latin typeface="Bahnschrift Light" pitchFamily="34" charset="0"/>
              </a:rPr>
              <a:t>	Denomina-se ponto de trabalho ou ponto quiescente(Q) do diodo, os valores de tensão e corrente aos quais ele será submetido no circuito.</a:t>
            </a:r>
          </a:p>
          <a:p>
            <a:pPr marL="0" algn="just">
              <a:spcBef>
                <a:spcPts val="0"/>
              </a:spcBef>
              <a:buNone/>
            </a:pPr>
            <a:r>
              <a:rPr lang="pt-BR" sz="2400" dirty="0" smtClean="0">
                <a:latin typeface="Bahnschrift Light" pitchFamily="34" charset="0"/>
              </a:rPr>
              <a:t>	Para a obtensão do ponto quiescente utilizamos a curva do diodo (oferecida pelo fabricante), e nela, traçamos uma reta de carga.</a:t>
            </a:r>
            <a:endParaRPr dirty="0">
              <a:latin typeface="Bahnschrift Light" pitchFamily="34" charset="0"/>
            </a:endParaRPr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3" name="Picture 2" descr="http://2.bp.blogspot.com/_Wipt-uZX2TU/SOcPIHKcebI/AAAAAAAAAhI/DnCHeQrJSE4/S760/6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8104" y="1779662"/>
            <a:ext cx="3501228" cy="252028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Bahnschrift Light" pitchFamily="34" charset="0"/>
              </a:rPr>
              <a:t>CIRCUITOS COM DIODOS</a:t>
            </a:r>
            <a:endParaRPr dirty="0">
              <a:latin typeface="Bahnschrift Light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/>
          </a:p>
        </p:txBody>
      </p:sp>
      <p:sp>
        <p:nvSpPr>
          <p:cNvPr id="193" name="Google Shape;193;p12"/>
          <p:cNvSpPr txBox="1">
            <a:spLocks noGrp="1"/>
          </p:cNvSpPr>
          <p:nvPr>
            <p:ph type="body" idx="1"/>
          </p:nvPr>
        </p:nvSpPr>
        <p:spPr>
          <a:xfrm>
            <a:off x="251520" y="1347615"/>
            <a:ext cx="8568952" cy="30963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algn="just">
              <a:spcBef>
                <a:spcPts val="0"/>
              </a:spcBef>
              <a:buNone/>
            </a:pPr>
            <a:r>
              <a:rPr lang="pt-BR" sz="2400" dirty="0" smtClean="0">
                <a:latin typeface="Bahnschrift Light" pitchFamily="34" charset="0"/>
              </a:rPr>
              <a:t>	Determina-se a tensão de corte VC do diodo (tensão no diodo quando ele este aberto, ou seja, quando a corrente ID é igual a zero)</a:t>
            </a:r>
          </a:p>
          <a:p>
            <a:pPr marL="0" algn="just">
              <a:spcBef>
                <a:spcPts val="0"/>
              </a:spcBef>
              <a:buNone/>
            </a:pPr>
            <a:r>
              <a:rPr lang="pt-BR" sz="2400" b="1" dirty="0" smtClean="0">
                <a:latin typeface="Bahnschrift Light" pitchFamily="34" charset="0"/>
              </a:rPr>
              <a:t>VC = VCC</a:t>
            </a:r>
          </a:p>
          <a:p>
            <a:pPr marL="0" algn="just">
              <a:spcBef>
                <a:spcPts val="0"/>
              </a:spcBef>
              <a:buNone/>
            </a:pPr>
            <a:endParaRPr lang="pt-BR" sz="2400" b="1" dirty="0" smtClean="0">
              <a:latin typeface="Bahnschrift Light" pitchFamily="34" charset="0"/>
            </a:endParaRPr>
          </a:p>
          <a:p>
            <a:pPr marL="0" algn="just">
              <a:spcBef>
                <a:spcPts val="0"/>
              </a:spcBef>
              <a:buNone/>
            </a:pPr>
            <a:r>
              <a:rPr lang="pt-BR" sz="2400" dirty="0" smtClean="0">
                <a:latin typeface="Bahnschrift Light" pitchFamily="34" charset="0"/>
              </a:rPr>
              <a:t>	Determina-se a corrente de saturação IS (corrente máxima no diodo considerando-o como um “curto”).</a:t>
            </a:r>
          </a:p>
          <a:p>
            <a:pPr marL="0" algn="just">
              <a:spcBef>
                <a:spcPts val="0"/>
              </a:spcBef>
              <a:buNone/>
            </a:pPr>
            <a:r>
              <a:rPr lang="pt-BR" sz="2400" b="1" dirty="0" smtClean="0">
                <a:latin typeface="Bahnschrift Light" pitchFamily="34" charset="0"/>
              </a:rPr>
              <a:t>IS = VCC / RL</a:t>
            </a:r>
            <a:endParaRPr b="1" dirty="0">
              <a:latin typeface="Bahnschrift Light" pitchFamily="34" charset="0"/>
            </a:endParaRPr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Bahnschrift Light" pitchFamily="34" charset="0"/>
              </a:rPr>
              <a:t>CIRCUITOS COM DIODOS</a:t>
            </a:r>
            <a:endParaRPr dirty="0">
              <a:latin typeface="Bahnschrift Light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/>
          </a:p>
        </p:txBody>
      </p:sp>
      <p:sp>
        <p:nvSpPr>
          <p:cNvPr id="193" name="Google Shape;193;p12"/>
          <p:cNvSpPr txBox="1">
            <a:spLocks noGrp="1"/>
          </p:cNvSpPr>
          <p:nvPr>
            <p:ph type="body" idx="1"/>
          </p:nvPr>
        </p:nvSpPr>
        <p:spPr>
          <a:xfrm>
            <a:off x="251520" y="1347615"/>
            <a:ext cx="8568952" cy="30963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algn="just">
              <a:spcBef>
                <a:spcPts val="0"/>
              </a:spcBef>
              <a:buNone/>
            </a:pPr>
            <a:r>
              <a:rPr lang="pt-BR" sz="2400" dirty="0" smtClean="0">
                <a:latin typeface="Bahnschrift Light" pitchFamily="34" charset="0"/>
              </a:rPr>
              <a:t>	Traça-se a reta de carga sobre a curva característica do diodo. </a:t>
            </a:r>
          </a:p>
          <a:p>
            <a:pPr marL="0" algn="just">
              <a:spcBef>
                <a:spcPts val="0"/>
              </a:spcBef>
              <a:buNone/>
            </a:pPr>
            <a:r>
              <a:rPr lang="pt-BR" sz="2400" dirty="0" smtClean="0">
                <a:latin typeface="Bahnschrift Light" pitchFamily="34" charset="0"/>
              </a:rPr>
              <a:t>	O ponto quiescente (</a:t>
            </a:r>
            <a:r>
              <a:rPr lang="pt-BR" sz="2400" b="1" dirty="0" smtClean="0">
                <a:latin typeface="Bahnschrift Light" pitchFamily="34" charset="0"/>
              </a:rPr>
              <a:t>V</a:t>
            </a:r>
            <a:r>
              <a:rPr lang="pt-BR" sz="2400" b="1" baseline="-25000" dirty="0" smtClean="0">
                <a:latin typeface="Bahnschrift Light" pitchFamily="34" charset="0"/>
              </a:rPr>
              <a:t>D</a:t>
            </a:r>
            <a:r>
              <a:rPr lang="pt-BR" sz="2400" b="1" dirty="0" smtClean="0">
                <a:latin typeface="Bahnschrift Light" pitchFamily="34" charset="0"/>
              </a:rPr>
              <a:t> e I</a:t>
            </a:r>
            <a:r>
              <a:rPr lang="pt-BR" sz="2400" b="1" baseline="-25000" dirty="0" smtClean="0">
                <a:latin typeface="Bahnschrift Light" pitchFamily="34" charset="0"/>
              </a:rPr>
              <a:t>D</a:t>
            </a:r>
            <a:r>
              <a:rPr lang="pt-BR" sz="2400" dirty="0" smtClean="0">
                <a:latin typeface="Bahnschrift Light" pitchFamily="34" charset="0"/>
              </a:rPr>
              <a:t>) corresponde exatamente às coordenadas do ponto Q onde a reta de carga intercepta a curva característica do diodo.</a:t>
            </a:r>
          </a:p>
          <a:p>
            <a:pPr marL="0" algn="just">
              <a:spcBef>
                <a:spcPts val="0"/>
              </a:spcBef>
              <a:buNone/>
            </a:pPr>
            <a:r>
              <a:rPr lang="pt-BR" sz="2400" dirty="0" smtClean="0">
                <a:latin typeface="Bahnschrift Light" pitchFamily="34" charset="0"/>
              </a:rPr>
              <a:t>	Pode-se também calcular a potência de dissipação do diodo pela equação: </a:t>
            </a:r>
          </a:p>
          <a:p>
            <a:pPr marL="0" algn="just">
              <a:spcBef>
                <a:spcPts val="0"/>
              </a:spcBef>
              <a:buNone/>
            </a:pPr>
            <a:r>
              <a:rPr lang="pt-BR" sz="2400" b="1" dirty="0" smtClean="0">
                <a:latin typeface="Bahnschrift Light" pitchFamily="34" charset="0"/>
              </a:rPr>
              <a:t>P</a:t>
            </a:r>
            <a:r>
              <a:rPr lang="pt-BR" sz="2400" b="1" baseline="-25000" dirty="0" smtClean="0">
                <a:latin typeface="Bahnschrift Light" pitchFamily="34" charset="0"/>
              </a:rPr>
              <a:t>D</a:t>
            </a:r>
            <a:r>
              <a:rPr lang="pt-BR" sz="2400" b="1" dirty="0" smtClean="0">
                <a:latin typeface="Bahnschrift Light" pitchFamily="34" charset="0"/>
              </a:rPr>
              <a:t> = V</a:t>
            </a:r>
            <a:r>
              <a:rPr lang="pt-BR" sz="2400" b="1" baseline="-25000" dirty="0" smtClean="0">
                <a:latin typeface="Bahnschrift Light" pitchFamily="34" charset="0"/>
              </a:rPr>
              <a:t>D</a:t>
            </a:r>
            <a:r>
              <a:rPr lang="pt-BR" sz="2400" b="1" dirty="0" smtClean="0">
                <a:latin typeface="Bahnschrift Light" pitchFamily="34" charset="0"/>
              </a:rPr>
              <a:t>.I</a:t>
            </a:r>
            <a:r>
              <a:rPr lang="pt-BR" sz="2400" b="1" baseline="-25000" dirty="0" smtClean="0">
                <a:latin typeface="Bahnschrift Light" pitchFamily="34" charset="0"/>
              </a:rPr>
              <a:t>D</a:t>
            </a:r>
            <a:endParaRPr b="1" baseline="-25000" dirty="0">
              <a:latin typeface="Bahnschrift Light" pitchFamily="34" charset="0"/>
            </a:endParaRPr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Bahnschrift Light" pitchFamily="34" charset="0"/>
              </a:rPr>
              <a:t>CIRCUITOS COM DIODOS</a:t>
            </a:r>
            <a:endParaRPr dirty="0">
              <a:latin typeface="Bahnschrift Light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/>
          </a:p>
        </p:txBody>
      </p:sp>
      <p:sp>
        <p:nvSpPr>
          <p:cNvPr id="193" name="Google Shape;193;p12"/>
          <p:cNvSpPr txBox="1">
            <a:spLocks noGrp="1"/>
          </p:cNvSpPr>
          <p:nvPr>
            <p:ph type="body" idx="1"/>
          </p:nvPr>
        </p:nvSpPr>
        <p:spPr>
          <a:xfrm>
            <a:off x="251520" y="1347615"/>
            <a:ext cx="8568952" cy="30963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algn="just">
              <a:spcBef>
                <a:spcPts val="0"/>
              </a:spcBef>
              <a:buNone/>
            </a:pPr>
            <a:r>
              <a:rPr lang="pt-BR" sz="2400" dirty="0" smtClean="0">
                <a:latin typeface="Bahnschrift Light" pitchFamily="34" charset="0"/>
              </a:rPr>
              <a:t>	Dada a curva característica do diodo, determine o ponto quiescente e sua potência de dissipação, sabendo-se que ele está ligado em série com um resistor de </a:t>
            </a:r>
            <a:r>
              <a:rPr lang="pt-BR" sz="2400" dirty="0" smtClean="0">
                <a:latin typeface="Bahnschrift Light" pitchFamily="34" charset="0"/>
              </a:rPr>
              <a:t>50Ω e </a:t>
            </a:r>
            <a:r>
              <a:rPr lang="pt-BR" sz="2400" dirty="0" smtClean="0">
                <a:latin typeface="Bahnschrift Light" pitchFamily="34" charset="0"/>
              </a:rPr>
              <a:t>alimentado por uma fonte de 2,2V.</a:t>
            </a:r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/>
          </a:p>
        </p:txBody>
      </p:sp>
      <p:pic>
        <p:nvPicPr>
          <p:cNvPr id="8" name="Imagem 7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5696" y="555526"/>
            <a:ext cx="5256584" cy="41249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Bahnschrift Light" pitchFamily="34" charset="0"/>
              </a:rPr>
              <a:t>CIRCUITOS COM DIODOS</a:t>
            </a:r>
            <a:endParaRPr dirty="0">
              <a:latin typeface="Bahnschrift Light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/>
          </a:p>
        </p:txBody>
      </p:sp>
      <p:sp>
        <p:nvSpPr>
          <p:cNvPr id="193" name="Google Shape;193;p12"/>
          <p:cNvSpPr txBox="1">
            <a:spLocks noGrp="1"/>
          </p:cNvSpPr>
          <p:nvPr>
            <p:ph type="body" idx="1"/>
          </p:nvPr>
        </p:nvSpPr>
        <p:spPr>
          <a:xfrm>
            <a:off x="251520" y="1347615"/>
            <a:ext cx="8568952" cy="30963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algn="just">
              <a:spcBef>
                <a:spcPts val="0"/>
              </a:spcBef>
              <a:buNone/>
            </a:pPr>
            <a:r>
              <a:rPr lang="pt-BR" sz="2400" dirty="0" smtClean="0">
                <a:latin typeface="Bahnschrift Light" pitchFamily="34" charset="0"/>
              </a:rPr>
              <a:t>	Modelo ideal - Este modelo considera o diodo comportando-se como condutor  na polarização direta e como um circuito aberto na polarização reversa.</a:t>
            </a:r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543971" y="2571750"/>
            <a:ext cx="6157608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Bahnschrift Light" pitchFamily="34" charset="0"/>
              </a:rPr>
              <a:t>CIRCUITOS COM DIODOS</a:t>
            </a:r>
            <a:endParaRPr dirty="0">
              <a:latin typeface="Bahnschrift Light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/>
          </a:p>
        </p:txBody>
      </p:sp>
      <p:sp>
        <p:nvSpPr>
          <p:cNvPr id="193" name="Google Shape;193;p12"/>
          <p:cNvSpPr txBox="1">
            <a:spLocks noGrp="1"/>
          </p:cNvSpPr>
          <p:nvPr>
            <p:ph type="body" idx="1"/>
          </p:nvPr>
        </p:nvSpPr>
        <p:spPr>
          <a:xfrm>
            <a:off x="251520" y="1347615"/>
            <a:ext cx="8568952" cy="30963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algn="just">
              <a:spcBef>
                <a:spcPts val="0"/>
              </a:spcBef>
              <a:buNone/>
            </a:pPr>
            <a:r>
              <a:rPr lang="pt-BR" sz="2400" dirty="0" smtClean="0">
                <a:latin typeface="Bahnschrift Light" pitchFamily="34" charset="0"/>
              </a:rPr>
              <a:t>	Modelo 2 – Diodo com </a:t>
            </a:r>
            <a:r>
              <a:rPr lang="pt-BR" sz="2400" dirty="0" err="1" smtClean="0">
                <a:latin typeface="Bahnschrift Light" pitchFamily="34" charset="0"/>
              </a:rPr>
              <a:t>Vγ</a:t>
            </a:r>
            <a:r>
              <a:rPr lang="pt-BR" sz="2400" dirty="0" smtClean="0">
                <a:latin typeface="Bahnschrift Light" pitchFamily="34" charset="0"/>
              </a:rPr>
              <a:t> - Este modelo considera o diodo comportando-se como um condutor em série com uma bateria de valor V</a:t>
            </a:r>
            <a:r>
              <a:rPr lang="pt-BR" sz="2400" baseline="-25000" dirty="0" smtClean="0">
                <a:latin typeface="Bahnschrift Light" pitchFamily="34" charset="0"/>
              </a:rPr>
              <a:t>γ</a:t>
            </a:r>
            <a:r>
              <a:rPr lang="pt-BR" sz="2400" dirty="0" smtClean="0">
                <a:latin typeface="Bahnschrift Light" pitchFamily="34" charset="0"/>
              </a:rPr>
              <a:t> na polarização direta, e como circuito aberto na polarização reversa. </a:t>
            </a:r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066832" y="2931791"/>
            <a:ext cx="5192319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Bahnschrift Light" pitchFamily="34" charset="0"/>
              </a:rPr>
              <a:t>CIRCUITOS COM DIODOS</a:t>
            </a:r>
            <a:endParaRPr dirty="0">
              <a:latin typeface="Bahnschrift Light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/>
          </a:p>
        </p:txBody>
      </p:sp>
      <p:sp>
        <p:nvSpPr>
          <p:cNvPr id="193" name="Google Shape;193;p12"/>
          <p:cNvSpPr txBox="1">
            <a:spLocks noGrp="1"/>
          </p:cNvSpPr>
          <p:nvPr>
            <p:ph type="body" idx="1"/>
          </p:nvPr>
        </p:nvSpPr>
        <p:spPr>
          <a:xfrm>
            <a:off x="251520" y="1347615"/>
            <a:ext cx="8568952" cy="30963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algn="just">
              <a:spcBef>
                <a:spcPts val="0"/>
              </a:spcBef>
              <a:buNone/>
            </a:pPr>
            <a:r>
              <a:rPr lang="pt-BR" sz="2400" dirty="0" smtClean="0">
                <a:latin typeface="Bahnschrift Light" pitchFamily="34" charset="0"/>
              </a:rPr>
              <a:t>	Modelo 3 – Diodo com </a:t>
            </a:r>
            <a:r>
              <a:rPr lang="pt-BR" sz="2400" dirty="0" err="1" smtClean="0">
                <a:latin typeface="Bahnschrift Light" pitchFamily="34" charset="0"/>
              </a:rPr>
              <a:t>Vγ</a:t>
            </a:r>
            <a:r>
              <a:rPr lang="pt-BR" sz="2400" dirty="0" smtClean="0">
                <a:latin typeface="Bahnschrift Light" pitchFamily="34" charset="0"/>
              </a:rPr>
              <a:t> e RD - Este modelo é o mais próximo do real e considera o diodo comportando-se como um condutor em série com uma bateria de valor </a:t>
            </a:r>
            <a:r>
              <a:rPr lang="pt-BR" sz="2400" dirty="0" err="1" smtClean="0">
                <a:latin typeface="Bahnschrift Light" pitchFamily="34" charset="0"/>
              </a:rPr>
              <a:t>Vγ</a:t>
            </a:r>
            <a:r>
              <a:rPr lang="pt-BR" sz="2400" dirty="0" smtClean="0">
                <a:latin typeface="Bahnschrift Light" pitchFamily="34" charset="0"/>
              </a:rPr>
              <a:t> e uma resistência RD correspondente à inclinação da sua curva característica na polarização direta, e como um circuito aberto na polarização reversa.</a:t>
            </a:r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Bahnschrift Light" pitchFamily="34" charset="0"/>
              </a:rPr>
              <a:t>CIRCUITOS COM DIODOS</a:t>
            </a:r>
            <a:endParaRPr dirty="0">
              <a:latin typeface="Bahnschrift Light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/>
          </a:p>
        </p:txBody>
      </p:sp>
      <p:sp>
        <p:nvSpPr>
          <p:cNvPr id="193" name="Google Shape;193;p12"/>
          <p:cNvSpPr txBox="1">
            <a:spLocks noGrp="1"/>
          </p:cNvSpPr>
          <p:nvPr>
            <p:ph type="body" idx="1"/>
          </p:nvPr>
        </p:nvSpPr>
        <p:spPr>
          <a:xfrm>
            <a:off x="251520" y="1347615"/>
            <a:ext cx="8568952" cy="30963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algn="just">
              <a:spcBef>
                <a:spcPts val="0"/>
              </a:spcBef>
              <a:buNone/>
            </a:pPr>
            <a:r>
              <a:rPr lang="pt-BR" sz="2400" dirty="0" smtClean="0">
                <a:latin typeface="Bahnschrift Light" pitchFamily="34" charset="0"/>
              </a:rPr>
              <a:t>	Modelo 3 – Diodo com </a:t>
            </a:r>
            <a:r>
              <a:rPr lang="pt-BR" sz="2400" dirty="0" err="1" smtClean="0">
                <a:latin typeface="Bahnschrift Light" pitchFamily="34" charset="0"/>
              </a:rPr>
              <a:t>Vγ</a:t>
            </a:r>
            <a:r>
              <a:rPr lang="pt-BR" sz="2400" dirty="0" smtClean="0">
                <a:latin typeface="Bahnschrift Light" pitchFamily="34" charset="0"/>
              </a:rPr>
              <a:t> e RD</a:t>
            </a:r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29605" y="1995686"/>
            <a:ext cx="8102835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"/>
          <p:cNvSpPr txBox="1">
            <a:spLocks noGrp="1"/>
          </p:cNvSpPr>
          <p:nvPr>
            <p:ph type="ctrTitle"/>
          </p:nvPr>
        </p:nvSpPr>
        <p:spPr>
          <a:xfrm>
            <a:off x="463524" y="2871148"/>
            <a:ext cx="5476627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CIRCUITOS COM DIODOS</a:t>
            </a:r>
            <a:endParaRPr dirty="0"/>
          </a:p>
        </p:txBody>
      </p:sp>
      <p:sp>
        <p:nvSpPr>
          <p:cNvPr id="222" name="Google Shape;222;p14"/>
          <p:cNvSpPr txBox="1">
            <a:spLocks noGrp="1"/>
          </p:cNvSpPr>
          <p:nvPr>
            <p:ph type="subTitle" idx="1"/>
          </p:nvPr>
        </p:nvSpPr>
        <p:spPr>
          <a:xfrm>
            <a:off x="463524" y="3975449"/>
            <a:ext cx="4612532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000"/>
              </a:spcAft>
            </a:pPr>
            <a:endParaRPr lang="pt-BR" dirty="0"/>
          </a:p>
        </p:txBody>
      </p:sp>
      <p:sp>
        <p:nvSpPr>
          <p:cNvPr id="223" name="Google Shape;223;p1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/>
          </a:p>
        </p:txBody>
      </p:sp>
      <p:sp>
        <p:nvSpPr>
          <p:cNvPr id="224" name="Google Shape;224;p14"/>
          <p:cNvSpPr txBox="1"/>
          <p:nvPr/>
        </p:nvSpPr>
        <p:spPr>
          <a:xfrm>
            <a:off x="463525" y="0"/>
            <a:ext cx="2181600" cy="31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 dirty="0" smtClean="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1.1</a:t>
            </a:r>
            <a:endParaRPr sz="3000" b="1" dirty="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Bahnschrift Light" pitchFamily="34" charset="0"/>
              </a:rPr>
              <a:t>CIRCUITOS COM DIODOS</a:t>
            </a:r>
            <a:endParaRPr dirty="0">
              <a:latin typeface="Bahnschrift Light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/>
          </a:p>
        </p:txBody>
      </p:sp>
      <p:sp>
        <p:nvSpPr>
          <p:cNvPr id="193" name="Google Shape;193;p12"/>
          <p:cNvSpPr txBox="1">
            <a:spLocks noGrp="1"/>
          </p:cNvSpPr>
          <p:nvPr>
            <p:ph type="body" idx="1"/>
          </p:nvPr>
        </p:nvSpPr>
        <p:spPr>
          <a:xfrm>
            <a:off x="251520" y="1347615"/>
            <a:ext cx="8568952" cy="30963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algn="just">
              <a:spcBef>
                <a:spcPts val="0"/>
              </a:spcBef>
              <a:buNone/>
            </a:pPr>
            <a:r>
              <a:rPr lang="pt-BR" sz="2400" dirty="0" smtClean="0">
                <a:latin typeface="Bahnschrift Light" pitchFamily="34" charset="0"/>
              </a:rPr>
              <a:t>	Os circuitos eletrônicos podem trabalhar com sinais contínuos ou alternados. Para conhecermos corretamente um sinal de tensão e de corrente alternadas e senoidais, precisamos estudar os parâmetros da forma de onda senoidal.  A Forma de Onda é a curva descrita por uma quantidade (como tensão ou corrente) em função de alguma variável como tempo, posição, ângulo, etc. </a:t>
            </a:r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Bahnschrift Light" pitchFamily="34" charset="0"/>
              </a:rPr>
              <a:t>CIRCUITOS COM DIODOS</a:t>
            </a:r>
            <a:endParaRPr dirty="0">
              <a:latin typeface="Bahnschrift Light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/>
          </a:p>
        </p:txBody>
      </p:sp>
      <p:sp>
        <p:nvSpPr>
          <p:cNvPr id="193" name="Google Shape;193;p12"/>
          <p:cNvSpPr txBox="1">
            <a:spLocks noGrp="1"/>
          </p:cNvSpPr>
          <p:nvPr>
            <p:ph type="body" idx="1"/>
          </p:nvPr>
        </p:nvSpPr>
        <p:spPr>
          <a:xfrm>
            <a:off x="251520" y="1347615"/>
            <a:ext cx="8568952" cy="30963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algn="just">
              <a:spcBef>
                <a:spcPts val="0"/>
              </a:spcBef>
              <a:buNone/>
            </a:pPr>
            <a:r>
              <a:rPr lang="pt-BR" sz="2400" dirty="0" smtClean="0">
                <a:latin typeface="Bahnschrift Light" pitchFamily="34" charset="0"/>
              </a:rPr>
              <a:t>	Conhecermos o valor médio, o valor eficaz, o valor de pico, e a frequência de uma </a:t>
            </a:r>
            <a:r>
              <a:rPr lang="pt-BR" sz="2400" dirty="0" err="1" smtClean="0">
                <a:latin typeface="Bahnschrift Light" pitchFamily="34" charset="0"/>
              </a:rPr>
              <a:t>senoide</a:t>
            </a:r>
            <a:r>
              <a:rPr lang="pt-BR" sz="2400" dirty="0" smtClean="0">
                <a:latin typeface="Bahnschrift Light" pitchFamily="34" charset="0"/>
              </a:rPr>
              <a:t> é muito importante para o estudo do comportamento energético das tensões e  correntes elétricas. </a:t>
            </a:r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Bahnschrift Light" pitchFamily="34" charset="0"/>
              </a:rPr>
              <a:t>CIRCUITOS COM DIODOS</a:t>
            </a:r>
            <a:endParaRPr dirty="0">
              <a:latin typeface="Bahnschrift Light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/>
          </a:p>
        </p:txBody>
      </p:sp>
      <p:sp>
        <p:nvSpPr>
          <p:cNvPr id="193" name="Google Shape;193;p12"/>
          <p:cNvSpPr txBox="1">
            <a:spLocks noGrp="1"/>
          </p:cNvSpPr>
          <p:nvPr>
            <p:ph type="body" idx="1"/>
          </p:nvPr>
        </p:nvSpPr>
        <p:spPr>
          <a:xfrm>
            <a:off x="251520" y="1347615"/>
            <a:ext cx="4320480" cy="30963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algn="just">
              <a:spcBef>
                <a:spcPts val="0"/>
              </a:spcBef>
              <a:buNone/>
            </a:pPr>
            <a:r>
              <a:rPr lang="pt-BR" sz="2400" dirty="0" smtClean="0">
                <a:latin typeface="Bahnschrift Light" pitchFamily="34" charset="0"/>
              </a:rPr>
              <a:t>	O Valor de </a:t>
            </a:r>
            <a:r>
              <a:rPr lang="pt-BR" sz="2400" b="1" dirty="0" smtClean="0">
                <a:latin typeface="Bahnschrift Light" pitchFamily="34" charset="0"/>
              </a:rPr>
              <a:t>Pico</a:t>
            </a:r>
            <a:r>
              <a:rPr lang="pt-BR" sz="2400" dirty="0" smtClean="0">
                <a:latin typeface="Bahnschrift Light" pitchFamily="34" charset="0"/>
              </a:rPr>
              <a:t> é a amplitude da forma de onda que corresponde ao máximo valor no eixo vertical. O máximo valor da corrente é a Corrente de Pico (</a:t>
            </a:r>
            <a:r>
              <a:rPr lang="pt-BR" sz="2400" dirty="0" err="1" smtClean="0">
                <a:latin typeface="Bahnschrift Light" pitchFamily="34" charset="0"/>
              </a:rPr>
              <a:t>Ip</a:t>
            </a:r>
            <a:r>
              <a:rPr lang="pt-BR" sz="2400" dirty="0" smtClean="0">
                <a:latin typeface="Bahnschrift Light" pitchFamily="34" charset="0"/>
              </a:rPr>
              <a:t>) e o máximo valor da tensão é a Tensão de Pico (</a:t>
            </a:r>
            <a:r>
              <a:rPr lang="pt-BR" sz="2400" dirty="0" err="1" smtClean="0">
                <a:latin typeface="Bahnschrift Light" pitchFamily="34" charset="0"/>
              </a:rPr>
              <a:t>Vp</a:t>
            </a:r>
            <a:r>
              <a:rPr lang="pt-BR" sz="2400" dirty="0" smtClean="0">
                <a:latin typeface="Bahnschrift Light" pitchFamily="34" charset="0"/>
              </a:rPr>
              <a:t>), como indica a figura.</a:t>
            </a:r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2" name="Picture 2" descr="http://www.geocities.ws/jcc5003/imagens/tensaoamplitudeperiodohtml1_500.gif"/>
          <p:cNvPicPr>
            <a:picLocks noChangeAspect="1" noChangeArrowheads="1"/>
          </p:cNvPicPr>
          <p:nvPr/>
        </p:nvPicPr>
        <p:blipFill>
          <a:blip r:embed="rId3" cstate="print"/>
          <a:srcRect t="-2154" b="6430"/>
          <a:stretch>
            <a:fillRect/>
          </a:stretch>
        </p:blipFill>
        <p:spPr bwMode="auto">
          <a:xfrm>
            <a:off x="4572000" y="1491630"/>
            <a:ext cx="4330452" cy="280831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Bahnschrift Light" pitchFamily="34" charset="0"/>
              </a:rPr>
              <a:t>CIRCUITOS COM DIODOS</a:t>
            </a:r>
            <a:endParaRPr dirty="0">
              <a:latin typeface="Bahnschrift Light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/>
          </a:p>
        </p:txBody>
      </p:sp>
      <p:sp>
        <p:nvSpPr>
          <p:cNvPr id="193" name="Google Shape;193;p12"/>
          <p:cNvSpPr txBox="1">
            <a:spLocks noGrp="1"/>
          </p:cNvSpPr>
          <p:nvPr>
            <p:ph type="body" idx="1"/>
          </p:nvPr>
        </p:nvSpPr>
        <p:spPr>
          <a:xfrm>
            <a:off x="251520" y="1347615"/>
            <a:ext cx="8568952" cy="30963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algn="just">
              <a:spcBef>
                <a:spcPts val="0"/>
              </a:spcBef>
              <a:buNone/>
            </a:pPr>
            <a:r>
              <a:rPr lang="pt-BR" sz="2400" dirty="0" smtClean="0">
                <a:latin typeface="Bahnschrift Light" pitchFamily="34" charset="0"/>
              </a:rPr>
              <a:t>	O Valor de </a:t>
            </a:r>
            <a:r>
              <a:rPr lang="pt-BR" sz="2400" b="1" dirty="0" smtClean="0">
                <a:latin typeface="Bahnschrift Light" pitchFamily="34" charset="0"/>
              </a:rPr>
              <a:t>Pico a Pico</a:t>
            </a:r>
            <a:r>
              <a:rPr lang="pt-BR" sz="2400" dirty="0" smtClean="0">
                <a:latin typeface="Bahnschrift Light" pitchFamily="34" charset="0"/>
              </a:rPr>
              <a:t> de tensão e corrente (</a:t>
            </a:r>
            <a:r>
              <a:rPr lang="pt-BR" sz="2400" dirty="0" err="1" smtClean="0">
                <a:latin typeface="Bahnschrift Light" pitchFamily="34" charset="0"/>
              </a:rPr>
              <a:t>Vpp</a:t>
            </a:r>
            <a:r>
              <a:rPr lang="pt-BR" sz="2400" dirty="0" smtClean="0">
                <a:latin typeface="Bahnschrift Light" pitchFamily="34" charset="0"/>
              </a:rPr>
              <a:t> e </a:t>
            </a:r>
            <a:r>
              <a:rPr lang="pt-BR" sz="2400" dirty="0" err="1" smtClean="0">
                <a:latin typeface="Bahnschrift Light" pitchFamily="34" charset="0"/>
              </a:rPr>
              <a:t>Ipp</a:t>
            </a:r>
            <a:r>
              <a:rPr lang="pt-BR" sz="2400" dirty="0" smtClean="0">
                <a:latin typeface="Bahnschrift Light" pitchFamily="34" charset="0"/>
              </a:rPr>
              <a:t>) é o valor correspondente entre o pico superior (amplitude máxima positiva) e o pico inferior (amplitude máxima negativa ou vale) e é exatamente o dobro do valor de pico numa forma de onda senoidal, pois esta é simétrica.</a:t>
            </a:r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/>
          </a:p>
        </p:txBody>
      </p:sp>
      <p:pic>
        <p:nvPicPr>
          <p:cNvPr id="4" name="Imagem 3"/>
          <p:cNvPicPr/>
          <p:nvPr/>
        </p:nvPicPr>
        <p:blipFill>
          <a:blip r:embed="rId3" cstate="print">
            <a:lum contrast="30000"/>
          </a:blip>
          <a:srcRect/>
          <a:stretch>
            <a:fillRect/>
          </a:stretch>
        </p:blipFill>
        <p:spPr bwMode="auto">
          <a:xfrm>
            <a:off x="2555776" y="411510"/>
            <a:ext cx="4032448" cy="43924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Bahnschrift Light" pitchFamily="34" charset="0"/>
              </a:rPr>
              <a:t>CIRCUITOS COM DIODOS</a:t>
            </a:r>
            <a:endParaRPr dirty="0">
              <a:latin typeface="Bahnschrift Light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/>
          </a:p>
        </p:txBody>
      </p:sp>
      <p:sp>
        <p:nvSpPr>
          <p:cNvPr id="193" name="Google Shape;193;p12"/>
          <p:cNvSpPr txBox="1">
            <a:spLocks noGrp="1"/>
          </p:cNvSpPr>
          <p:nvPr>
            <p:ph type="body" idx="1"/>
          </p:nvPr>
        </p:nvSpPr>
        <p:spPr>
          <a:xfrm>
            <a:off x="251520" y="1347615"/>
            <a:ext cx="8568952" cy="30963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algn="just">
              <a:spcBef>
                <a:spcPts val="0"/>
              </a:spcBef>
              <a:buNone/>
            </a:pPr>
            <a:r>
              <a:rPr lang="pt-BR" sz="2400" dirty="0" smtClean="0">
                <a:latin typeface="Bahnschrift Light" pitchFamily="34" charset="0"/>
              </a:rPr>
              <a:t>	O Valor </a:t>
            </a:r>
            <a:r>
              <a:rPr lang="pt-BR" sz="2400" b="1" dirty="0" smtClean="0">
                <a:latin typeface="Bahnschrift Light" pitchFamily="34" charset="0"/>
              </a:rPr>
              <a:t>médio</a:t>
            </a:r>
            <a:r>
              <a:rPr lang="pt-BR" sz="2400" dirty="0" smtClean="0">
                <a:latin typeface="Bahnschrift Light" pitchFamily="34" charset="0"/>
              </a:rPr>
              <a:t> de tensão e corrente (</a:t>
            </a:r>
            <a:r>
              <a:rPr lang="pt-BR" sz="2400" dirty="0" err="1" smtClean="0">
                <a:latin typeface="Bahnschrift Light" pitchFamily="34" charset="0"/>
              </a:rPr>
              <a:t>Vm</a:t>
            </a:r>
            <a:r>
              <a:rPr lang="pt-BR" sz="2400" dirty="0" smtClean="0">
                <a:latin typeface="Bahnschrift Light" pitchFamily="34" charset="0"/>
              </a:rPr>
              <a:t> e </a:t>
            </a:r>
            <a:r>
              <a:rPr lang="pt-BR" sz="2400" dirty="0" err="1" smtClean="0">
                <a:latin typeface="Bahnschrift Light" pitchFamily="34" charset="0"/>
              </a:rPr>
              <a:t>Im</a:t>
            </a:r>
            <a:r>
              <a:rPr lang="pt-BR" sz="2400" dirty="0" smtClean="0">
                <a:latin typeface="Bahnschrift Light" pitchFamily="34" charset="0"/>
              </a:rPr>
              <a:t>) é o valor da diferença entre o pico superior (amplitude máxima positiva) e o pico inferior (amplitude máxima negativa ou vale) e no caso de uma forma de onda senoidal, vale zero.</a:t>
            </a:r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Bahnschrift Light" pitchFamily="34" charset="0"/>
              </a:rPr>
              <a:t>CIRCUITOS COM DIODOS</a:t>
            </a:r>
            <a:endParaRPr dirty="0">
              <a:latin typeface="Bahnschrift Light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/>
          </a:p>
        </p:txBody>
      </p:sp>
      <p:sp>
        <p:nvSpPr>
          <p:cNvPr id="193" name="Google Shape;193;p12"/>
          <p:cNvSpPr txBox="1">
            <a:spLocks noGrp="1"/>
          </p:cNvSpPr>
          <p:nvPr>
            <p:ph type="body" idx="1"/>
          </p:nvPr>
        </p:nvSpPr>
        <p:spPr>
          <a:xfrm>
            <a:off x="251520" y="1347615"/>
            <a:ext cx="8568952" cy="30963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algn="just">
              <a:spcBef>
                <a:spcPts val="0"/>
              </a:spcBef>
              <a:buNone/>
            </a:pPr>
            <a:r>
              <a:rPr lang="pt-BR" sz="2400" dirty="0" smtClean="0">
                <a:latin typeface="Bahnschrift Light" pitchFamily="34" charset="0"/>
              </a:rPr>
              <a:t>	O Valor eficaz de tensão e corrente (V</a:t>
            </a:r>
            <a:r>
              <a:rPr lang="pt-BR" sz="2400" baseline="-25000" dirty="0" smtClean="0">
                <a:latin typeface="Bahnschrift Light" pitchFamily="34" charset="0"/>
              </a:rPr>
              <a:t>rms</a:t>
            </a:r>
            <a:r>
              <a:rPr lang="pt-BR" sz="2400" dirty="0" smtClean="0">
                <a:latin typeface="Bahnschrift Light" pitchFamily="34" charset="0"/>
              </a:rPr>
              <a:t> e </a:t>
            </a:r>
            <a:r>
              <a:rPr lang="pt-BR" sz="2400" dirty="0" err="1" smtClean="0">
                <a:latin typeface="Bahnschrift Light" pitchFamily="34" charset="0"/>
              </a:rPr>
              <a:t>I</a:t>
            </a:r>
            <a:r>
              <a:rPr lang="pt-BR" sz="2400" baseline="-25000" dirty="0" err="1" smtClean="0">
                <a:latin typeface="Bahnschrift Light" pitchFamily="34" charset="0"/>
              </a:rPr>
              <a:t>rms</a:t>
            </a:r>
            <a:r>
              <a:rPr lang="pt-BR" sz="2400" dirty="0" smtClean="0">
                <a:latin typeface="Bahnschrift Light" pitchFamily="34" charset="0"/>
              </a:rPr>
              <a:t>) é o valor de </a:t>
            </a:r>
            <a:r>
              <a:rPr lang="pt-BR" sz="2400" b="1" dirty="0" smtClean="0">
                <a:latin typeface="Bahnschrift Light" pitchFamily="34" charset="0"/>
              </a:rPr>
              <a:t>pico</a:t>
            </a:r>
            <a:r>
              <a:rPr lang="pt-BR" sz="2400" dirty="0" smtClean="0">
                <a:latin typeface="Bahnschrift Light" pitchFamily="34" charset="0"/>
              </a:rPr>
              <a:t> divido por √2. O valor rms (</a:t>
            </a:r>
            <a:r>
              <a:rPr lang="pt-BR" sz="2400" i="1" dirty="0" err="1" smtClean="0">
                <a:latin typeface="Bahnschrift Light" pitchFamily="34" charset="0"/>
              </a:rPr>
              <a:t>root</a:t>
            </a:r>
            <a:r>
              <a:rPr lang="pt-BR" sz="2400" i="1" dirty="0" smtClean="0">
                <a:latin typeface="Bahnschrift Light" pitchFamily="34" charset="0"/>
              </a:rPr>
              <a:t> </a:t>
            </a:r>
            <a:r>
              <a:rPr lang="pt-BR" sz="2400" i="1" dirty="0" err="1" smtClean="0">
                <a:latin typeface="Bahnschrift Light" pitchFamily="34" charset="0"/>
              </a:rPr>
              <a:t>mean</a:t>
            </a:r>
            <a:r>
              <a:rPr lang="pt-BR" sz="2400" i="1" dirty="0" smtClean="0">
                <a:latin typeface="Bahnschrift Light" pitchFamily="34" charset="0"/>
              </a:rPr>
              <a:t> </a:t>
            </a:r>
            <a:r>
              <a:rPr lang="pt-BR" sz="2400" i="1" dirty="0" err="1" smtClean="0">
                <a:latin typeface="Bahnschrift Light" pitchFamily="34" charset="0"/>
              </a:rPr>
              <a:t>square</a:t>
            </a:r>
            <a:r>
              <a:rPr lang="pt-BR" sz="2400" i="1" dirty="0" smtClean="0">
                <a:latin typeface="Bahnschrift Light" pitchFamily="34" charset="0"/>
              </a:rPr>
              <a:t> </a:t>
            </a:r>
            <a:r>
              <a:rPr lang="pt-BR" sz="2400" dirty="0" smtClean="0">
                <a:latin typeface="Bahnschrift Light" pitchFamily="34" charset="0"/>
              </a:rPr>
              <a:t>ou </a:t>
            </a:r>
            <a:r>
              <a:rPr lang="pt-BR" sz="2400" dirty="0" err="1" smtClean="0">
                <a:latin typeface="Bahnschrift Light" pitchFamily="34" charset="0"/>
              </a:rPr>
              <a:t>raíz</a:t>
            </a:r>
            <a:r>
              <a:rPr lang="pt-BR" sz="2400" dirty="0" smtClean="0">
                <a:latin typeface="Bahnschrift Light" pitchFamily="34" charset="0"/>
              </a:rPr>
              <a:t> média quadrática), corresponde à tensão ou corrente contínuas que, aplicadas a uma resistência, fariam com que ela dissipasse a mesma potência média caso fossem aplicadas uma tensão ou corrente alternadas.</a:t>
            </a:r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"/>
          <p:cNvSpPr txBox="1">
            <a:spLocks noGrp="1"/>
          </p:cNvSpPr>
          <p:nvPr>
            <p:ph type="ctrTitle"/>
          </p:nvPr>
        </p:nvSpPr>
        <p:spPr>
          <a:xfrm>
            <a:off x="463524" y="2871148"/>
            <a:ext cx="5476627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CIRCUITOS COM DIODOS</a:t>
            </a:r>
            <a:endParaRPr dirty="0"/>
          </a:p>
        </p:txBody>
      </p:sp>
      <p:sp>
        <p:nvSpPr>
          <p:cNvPr id="222" name="Google Shape;222;p14"/>
          <p:cNvSpPr txBox="1">
            <a:spLocks noGrp="1"/>
          </p:cNvSpPr>
          <p:nvPr>
            <p:ph type="subTitle" idx="1"/>
          </p:nvPr>
        </p:nvSpPr>
        <p:spPr>
          <a:xfrm>
            <a:off x="463524" y="3975449"/>
            <a:ext cx="4612532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000"/>
              </a:spcAft>
            </a:pPr>
            <a:r>
              <a:rPr lang="pt-BR" dirty="0" smtClean="0"/>
              <a:t>Limitadores e multiplicadores</a:t>
            </a:r>
            <a:endParaRPr lang="pt-BR" dirty="0"/>
          </a:p>
        </p:txBody>
      </p:sp>
      <p:sp>
        <p:nvSpPr>
          <p:cNvPr id="223" name="Google Shape;223;p1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endParaRPr/>
          </a:p>
        </p:txBody>
      </p:sp>
      <p:sp>
        <p:nvSpPr>
          <p:cNvPr id="224" name="Google Shape;224;p14"/>
          <p:cNvSpPr txBox="1"/>
          <p:nvPr/>
        </p:nvSpPr>
        <p:spPr>
          <a:xfrm>
            <a:off x="463525" y="0"/>
            <a:ext cx="2181600" cy="31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 dirty="0" smtClean="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1.2</a:t>
            </a:r>
            <a:endParaRPr sz="3000" b="1" dirty="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Bahnschrift Light" pitchFamily="34" charset="0"/>
              </a:rPr>
              <a:t>CIRCUITOS COM DIODOS</a:t>
            </a:r>
            <a:endParaRPr dirty="0">
              <a:latin typeface="Bahnschrift Light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endParaRPr/>
          </a:p>
        </p:txBody>
      </p:sp>
      <p:sp>
        <p:nvSpPr>
          <p:cNvPr id="193" name="Google Shape;193;p12"/>
          <p:cNvSpPr txBox="1">
            <a:spLocks noGrp="1"/>
          </p:cNvSpPr>
          <p:nvPr>
            <p:ph type="body" idx="1"/>
          </p:nvPr>
        </p:nvSpPr>
        <p:spPr>
          <a:xfrm>
            <a:off x="251520" y="1347615"/>
            <a:ext cx="8568952" cy="30963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algn="just">
              <a:spcBef>
                <a:spcPts val="0"/>
              </a:spcBef>
              <a:buNone/>
            </a:pPr>
            <a:r>
              <a:rPr lang="pt-BR" sz="2400" dirty="0" smtClean="0">
                <a:latin typeface="Bahnschrift Light" pitchFamily="34" charset="0"/>
              </a:rPr>
              <a:t>Circuitos com diodos</a:t>
            </a:r>
          </a:p>
          <a:p>
            <a:pPr marL="0" algn="just">
              <a:spcBef>
                <a:spcPts val="0"/>
              </a:spcBef>
              <a:buNone/>
            </a:pPr>
            <a:endParaRPr lang="pt-BR" sz="2400" dirty="0" smtClean="0">
              <a:latin typeface="Bahnschrift Light" pitchFamily="34" charset="0"/>
            </a:endParaRPr>
          </a:p>
          <a:p>
            <a:pPr marL="0" algn="just">
              <a:spcBef>
                <a:spcPts val="0"/>
              </a:spcBef>
              <a:buNone/>
            </a:pPr>
            <a:r>
              <a:rPr lang="pt-BR" sz="2400" dirty="0" smtClean="0">
                <a:latin typeface="Bahnschrift Light" pitchFamily="34" charset="0"/>
              </a:rPr>
              <a:t>Limitadores positivos </a:t>
            </a:r>
          </a:p>
          <a:p>
            <a:pPr marL="0" algn="just">
              <a:spcBef>
                <a:spcPts val="0"/>
              </a:spcBef>
              <a:buNone/>
            </a:pPr>
            <a:r>
              <a:rPr lang="pt-BR" sz="2400" dirty="0" smtClean="0">
                <a:latin typeface="Bahnschrift Light" pitchFamily="34" charset="0"/>
              </a:rPr>
              <a:t>Limitadores negativos</a:t>
            </a:r>
          </a:p>
          <a:p>
            <a:pPr marL="0" algn="just">
              <a:spcBef>
                <a:spcPts val="0"/>
              </a:spcBef>
              <a:buNone/>
            </a:pPr>
            <a:r>
              <a:rPr lang="pt-BR" sz="2400" dirty="0" smtClean="0">
                <a:latin typeface="Bahnschrift Light" pitchFamily="34" charset="0"/>
              </a:rPr>
              <a:t>Limitadores duplos</a:t>
            </a:r>
          </a:p>
          <a:p>
            <a:pPr marL="0" algn="just">
              <a:spcBef>
                <a:spcPts val="0"/>
              </a:spcBef>
              <a:buNone/>
            </a:pPr>
            <a:r>
              <a:rPr lang="pt-BR" sz="2400" dirty="0" smtClean="0">
                <a:latin typeface="Bahnschrift Light" pitchFamily="34" charset="0"/>
              </a:rPr>
              <a:t>Multiplicadores</a:t>
            </a:r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23</a:t>
            </a:fld>
            <a:endParaRPr/>
          </a:p>
        </p:txBody>
      </p:sp>
      <p:sp>
        <p:nvSpPr>
          <p:cNvPr id="5" name="Título 9"/>
          <p:cNvSpPr txBox="1">
            <a:spLocks/>
          </p:cNvSpPr>
          <p:nvPr/>
        </p:nvSpPr>
        <p:spPr>
          <a:xfrm>
            <a:off x="2771800" y="116632"/>
            <a:ext cx="3744416" cy="510902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hnschrift Light" pitchFamily="34" charset="0"/>
                <a:sym typeface="Arial"/>
              </a:rPr>
              <a:t>Limitadores positivos</a:t>
            </a:r>
            <a:endParaRPr kumimoji="0" lang="pt-B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hnschrift Light" pitchFamily="34" charset="0"/>
              <a:sym typeface="Arial"/>
            </a:endParaRPr>
          </a:p>
        </p:txBody>
      </p:sp>
      <p:pic>
        <p:nvPicPr>
          <p:cNvPr id="6" name="Picture 4" descr="C:\Users\Hudson\Desktop\pendrive verde\Eletrônica 1\Aula 3 - Circuitos com diodos\limitador positivo.bm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79712" y="1275606"/>
            <a:ext cx="5314950" cy="3190875"/>
          </a:xfrm>
          <a:prstGeom prst="rect">
            <a:avLst/>
          </a:prstGeom>
          <a:noFill/>
        </p:spPr>
      </p:pic>
      <p:sp>
        <p:nvSpPr>
          <p:cNvPr id="7" name="CaixaDeTexto 6"/>
          <p:cNvSpPr txBox="1"/>
          <p:nvPr/>
        </p:nvSpPr>
        <p:spPr>
          <a:xfrm>
            <a:off x="971600" y="2571750"/>
            <a:ext cx="5581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smtClean="0"/>
              <a:t>V</a:t>
            </a:r>
            <a:r>
              <a:rPr lang="pt-BR" dirty="0" smtClean="0"/>
              <a:t>E</a:t>
            </a:r>
            <a:endParaRPr lang="pt-BR" dirty="0"/>
          </a:p>
        </p:txBody>
      </p:sp>
      <p:sp>
        <p:nvSpPr>
          <p:cNvPr id="8" name="CaixaDeTexto 7"/>
          <p:cNvSpPr txBox="1"/>
          <p:nvPr/>
        </p:nvSpPr>
        <p:spPr>
          <a:xfrm>
            <a:off x="7452320" y="2571750"/>
            <a:ext cx="5357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err="1" smtClean="0"/>
              <a:t>V</a:t>
            </a:r>
            <a:r>
              <a:rPr lang="pt-BR" dirty="0" err="1" smtClean="0"/>
              <a:t>s</a:t>
            </a:r>
            <a:endParaRPr lang="pt-BR" dirty="0"/>
          </a:p>
        </p:txBody>
      </p:sp>
      <p:cxnSp>
        <p:nvCxnSpPr>
          <p:cNvPr id="9" name="Conector de seta reta 8"/>
          <p:cNvCxnSpPr/>
          <p:nvPr/>
        </p:nvCxnSpPr>
        <p:spPr>
          <a:xfrm rot="10800000">
            <a:off x="2123728" y="1923678"/>
            <a:ext cx="0" cy="201622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/>
          <p:nvPr/>
        </p:nvCxnSpPr>
        <p:spPr>
          <a:xfrm rot="10800000">
            <a:off x="7092280" y="1923678"/>
            <a:ext cx="0" cy="201622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Bahnschrift Light" pitchFamily="34" charset="0"/>
              </a:rPr>
              <a:t>CIRCUITOS COM DIODOS</a:t>
            </a:r>
            <a:endParaRPr dirty="0">
              <a:latin typeface="Bahnschrift Light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24</a:t>
            </a:fld>
            <a:endParaRPr/>
          </a:p>
        </p:txBody>
      </p:sp>
      <p:sp>
        <p:nvSpPr>
          <p:cNvPr id="193" name="Google Shape;193;p12"/>
          <p:cNvSpPr txBox="1">
            <a:spLocks noGrp="1"/>
          </p:cNvSpPr>
          <p:nvPr>
            <p:ph type="body" idx="1"/>
          </p:nvPr>
        </p:nvSpPr>
        <p:spPr>
          <a:xfrm>
            <a:off x="251520" y="1347615"/>
            <a:ext cx="8568952" cy="30963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algn="just">
              <a:spcBef>
                <a:spcPts val="0"/>
              </a:spcBef>
              <a:buNone/>
            </a:pPr>
            <a:r>
              <a:rPr lang="pt-BR" sz="2400" dirty="0" smtClean="0">
                <a:latin typeface="Bahnschrift Light" pitchFamily="34" charset="0"/>
              </a:rPr>
              <a:t>	Considerando-se inicialmente o diodo ideal, se a tensão de entrada for negativa, o diodo fica reversamente polarizado, ou seja, funciona como um circuito aberto, fazendo com que a tensão de saída fique igual a tensão de entrada. </a:t>
            </a:r>
          </a:p>
          <a:p>
            <a:pPr marL="0" algn="just">
              <a:spcBef>
                <a:spcPts val="0"/>
              </a:spcBef>
              <a:buNone/>
            </a:pPr>
            <a:r>
              <a:rPr lang="pt-BR" sz="2400" dirty="0" smtClean="0">
                <a:latin typeface="Bahnschrift Light" pitchFamily="34" charset="0"/>
              </a:rPr>
              <a:t>Se a tensão de entrada for positiva e menor que a tensão fornecida pelo diodo e a bateria, o diodo permanece polarizado reversamente e , portanto a tensão de saída permanece igual a tensão de entrada.</a:t>
            </a:r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C:\Users\Hudson\Desktop\pendrive verde\Eletrônica 1\Aula 3 - Circuitos com diodos\limitador negativo.bm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79712" y="1275606"/>
            <a:ext cx="5410200" cy="3228975"/>
          </a:xfrm>
          <a:prstGeom prst="rect">
            <a:avLst/>
          </a:prstGeom>
          <a:noFill/>
        </p:spPr>
      </p:pic>
      <p:sp>
        <p:nvSpPr>
          <p:cNvPr id="502" name="Google Shape;502;p3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25</a:t>
            </a:fld>
            <a:endParaRPr/>
          </a:p>
        </p:txBody>
      </p:sp>
      <p:sp>
        <p:nvSpPr>
          <p:cNvPr id="5" name="Título 9"/>
          <p:cNvSpPr txBox="1">
            <a:spLocks/>
          </p:cNvSpPr>
          <p:nvPr/>
        </p:nvSpPr>
        <p:spPr>
          <a:xfrm>
            <a:off x="2771800" y="116632"/>
            <a:ext cx="3744416" cy="510902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hnschrift Light" pitchFamily="34" charset="0"/>
                <a:sym typeface="Arial"/>
              </a:rPr>
              <a:t>Limitadores negativos</a:t>
            </a:r>
            <a:endParaRPr kumimoji="0" lang="pt-B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hnschrift Light" pitchFamily="34" charset="0"/>
              <a:sym typeface="Arial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971600" y="2571750"/>
            <a:ext cx="5581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smtClean="0"/>
              <a:t>V</a:t>
            </a:r>
            <a:r>
              <a:rPr lang="pt-BR" dirty="0" smtClean="0"/>
              <a:t>E</a:t>
            </a:r>
            <a:endParaRPr lang="pt-BR" dirty="0"/>
          </a:p>
        </p:txBody>
      </p:sp>
      <p:sp>
        <p:nvSpPr>
          <p:cNvPr id="8" name="CaixaDeTexto 7"/>
          <p:cNvSpPr txBox="1"/>
          <p:nvPr/>
        </p:nvSpPr>
        <p:spPr>
          <a:xfrm>
            <a:off x="7452320" y="2571750"/>
            <a:ext cx="5357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err="1" smtClean="0"/>
              <a:t>V</a:t>
            </a:r>
            <a:r>
              <a:rPr lang="pt-BR" dirty="0" err="1" smtClean="0"/>
              <a:t>s</a:t>
            </a:r>
            <a:endParaRPr lang="pt-BR" dirty="0"/>
          </a:p>
        </p:txBody>
      </p:sp>
      <p:cxnSp>
        <p:nvCxnSpPr>
          <p:cNvPr id="9" name="Conector de seta reta 8"/>
          <p:cNvCxnSpPr/>
          <p:nvPr/>
        </p:nvCxnSpPr>
        <p:spPr>
          <a:xfrm rot="10800000">
            <a:off x="2123728" y="1923678"/>
            <a:ext cx="0" cy="201622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/>
          <p:nvPr/>
        </p:nvCxnSpPr>
        <p:spPr>
          <a:xfrm rot="10800000">
            <a:off x="7092280" y="1923678"/>
            <a:ext cx="0" cy="201622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26</a:t>
            </a:fld>
            <a:endParaRPr/>
          </a:p>
        </p:txBody>
      </p:sp>
      <p:sp>
        <p:nvSpPr>
          <p:cNvPr id="5" name="Título 9"/>
          <p:cNvSpPr txBox="1">
            <a:spLocks/>
          </p:cNvSpPr>
          <p:nvPr/>
        </p:nvSpPr>
        <p:spPr>
          <a:xfrm>
            <a:off x="2771800" y="116632"/>
            <a:ext cx="3744416" cy="510902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hnschrift Light" pitchFamily="34" charset="0"/>
                <a:sym typeface="Arial"/>
              </a:rPr>
              <a:t>Limitadores duplos</a:t>
            </a:r>
            <a:endParaRPr kumimoji="0" lang="pt-B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hnschrift Light" pitchFamily="34" charset="0"/>
              <a:sym typeface="Arial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971600" y="2571750"/>
            <a:ext cx="5581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smtClean="0"/>
              <a:t>V</a:t>
            </a:r>
            <a:r>
              <a:rPr lang="pt-BR" dirty="0" smtClean="0"/>
              <a:t>E</a:t>
            </a:r>
            <a:endParaRPr lang="pt-BR" dirty="0"/>
          </a:p>
        </p:txBody>
      </p:sp>
      <p:sp>
        <p:nvSpPr>
          <p:cNvPr id="8" name="CaixaDeTexto 7"/>
          <p:cNvSpPr txBox="1"/>
          <p:nvPr/>
        </p:nvSpPr>
        <p:spPr>
          <a:xfrm>
            <a:off x="7452320" y="2571750"/>
            <a:ext cx="5357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err="1" smtClean="0"/>
              <a:t>V</a:t>
            </a:r>
            <a:r>
              <a:rPr lang="pt-BR" dirty="0" err="1" smtClean="0"/>
              <a:t>s</a:t>
            </a:r>
            <a:endParaRPr lang="pt-BR" dirty="0"/>
          </a:p>
        </p:txBody>
      </p:sp>
      <p:pic>
        <p:nvPicPr>
          <p:cNvPr id="11" name="Picture 2" descr="C:\Users\Hudson\Desktop\pendrive verde\Eletrônica 1\Aula 3 - Circuitos com diodos\limitador duplo.bm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91680" y="1563638"/>
            <a:ext cx="5472608" cy="273630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27</a:t>
            </a:fld>
            <a:endParaRPr/>
          </a:p>
        </p:txBody>
      </p:sp>
      <p:sp>
        <p:nvSpPr>
          <p:cNvPr id="5" name="Título 9"/>
          <p:cNvSpPr txBox="1">
            <a:spLocks/>
          </p:cNvSpPr>
          <p:nvPr/>
        </p:nvSpPr>
        <p:spPr>
          <a:xfrm>
            <a:off x="2771800" y="116632"/>
            <a:ext cx="3744416" cy="510902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hnschrift Light" pitchFamily="34" charset="0"/>
                <a:sym typeface="Arial"/>
              </a:rPr>
              <a:t>Limitadores duplos</a:t>
            </a:r>
            <a:endParaRPr kumimoji="0" lang="pt-B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hnschrift Light" pitchFamily="34" charset="0"/>
              <a:sym typeface="Arial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971600" y="2571750"/>
            <a:ext cx="5581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smtClean="0"/>
              <a:t>V</a:t>
            </a:r>
            <a:r>
              <a:rPr lang="pt-BR" dirty="0" smtClean="0"/>
              <a:t>E</a:t>
            </a:r>
            <a:endParaRPr lang="pt-BR" dirty="0"/>
          </a:p>
        </p:txBody>
      </p:sp>
      <p:sp>
        <p:nvSpPr>
          <p:cNvPr id="8" name="CaixaDeTexto 7"/>
          <p:cNvSpPr txBox="1"/>
          <p:nvPr/>
        </p:nvSpPr>
        <p:spPr>
          <a:xfrm>
            <a:off x="7452320" y="2571750"/>
            <a:ext cx="5357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err="1" smtClean="0"/>
              <a:t>V</a:t>
            </a:r>
            <a:r>
              <a:rPr lang="pt-BR" dirty="0" err="1" smtClean="0"/>
              <a:t>s</a:t>
            </a:r>
            <a:endParaRPr lang="pt-BR" dirty="0"/>
          </a:p>
        </p:txBody>
      </p:sp>
      <p:pic>
        <p:nvPicPr>
          <p:cNvPr id="11" name="Picture 2" descr="C:\Users\Hudson\Desktop\pendrive verde\Eletrônica 1\Aula 3 - Circuitos com diodos\limitador duplo.bm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91680" y="1563638"/>
            <a:ext cx="5472608" cy="273630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28</a:t>
            </a:fld>
            <a:endParaRPr/>
          </a:p>
        </p:txBody>
      </p:sp>
      <p:sp>
        <p:nvSpPr>
          <p:cNvPr id="5" name="Título 9"/>
          <p:cNvSpPr txBox="1">
            <a:spLocks/>
          </p:cNvSpPr>
          <p:nvPr/>
        </p:nvSpPr>
        <p:spPr>
          <a:xfrm>
            <a:off x="2771800" y="116632"/>
            <a:ext cx="3744416" cy="510902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hnschrift Light" pitchFamily="34" charset="0"/>
                <a:sym typeface="Arial"/>
              </a:rPr>
              <a:t>Multiplicadores</a:t>
            </a:r>
            <a:endParaRPr kumimoji="0" lang="pt-B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hnschrift Light" pitchFamily="34" charset="0"/>
              <a:sym typeface="Arial"/>
            </a:endParaRPr>
          </a:p>
        </p:txBody>
      </p:sp>
      <p:pic>
        <p:nvPicPr>
          <p:cNvPr id="9728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38250" y="800100"/>
            <a:ext cx="6667500" cy="354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29</a:t>
            </a:fld>
            <a:endParaRPr/>
          </a:p>
        </p:txBody>
      </p:sp>
      <p:sp>
        <p:nvSpPr>
          <p:cNvPr id="503" name="Google Shape;503;p34"/>
          <p:cNvSpPr txBox="1">
            <a:spLocks noGrp="1"/>
          </p:cNvSpPr>
          <p:nvPr>
            <p:ph type="ctrTitle" idx="4294967295"/>
          </p:nvPr>
        </p:nvSpPr>
        <p:spPr>
          <a:xfrm>
            <a:off x="1275150" y="2364400"/>
            <a:ext cx="65937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9800"/>
                </a:solidFill>
              </a:rPr>
              <a:t>THANKS!</a:t>
            </a:r>
            <a:endParaRPr sz="6000">
              <a:solidFill>
                <a:srgbClr val="FF9800"/>
              </a:solidFill>
            </a:endParaRPr>
          </a:p>
        </p:txBody>
      </p:sp>
      <p:sp>
        <p:nvSpPr>
          <p:cNvPr id="504" name="Google Shape;504;p34"/>
          <p:cNvSpPr txBox="1">
            <a:spLocks noGrp="1"/>
          </p:cNvSpPr>
          <p:nvPr>
            <p:ph type="subTitle" idx="4294967295"/>
          </p:nvPr>
        </p:nvSpPr>
        <p:spPr>
          <a:xfrm>
            <a:off x="1275150" y="3230000"/>
            <a:ext cx="6593700" cy="134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/>
              <a:t>Any questions</a:t>
            </a:r>
            <a:r>
              <a:rPr lang="en" sz="2000" b="1" dirty="0" smtClean="0"/>
              <a:t>?</a:t>
            </a:r>
            <a:endParaRPr sz="2000" b="1" dirty="0"/>
          </a:p>
        </p:txBody>
      </p:sp>
      <p:grpSp>
        <p:nvGrpSpPr>
          <p:cNvPr id="2" name="Google Shape;505;p34"/>
          <p:cNvGrpSpPr/>
          <p:nvPr/>
        </p:nvGrpSpPr>
        <p:grpSpPr>
          <a:xfrm>
            <a:off x="3996210" y="966817"/>
            <a:ext cx="1197664" cy="1126777"/>
            <a:chOff x="5972700" y="2330200"/>
            <a:chExt cx="411625" cy="387275"/>
          </a:xfrm>
        </p:grpSpPr>
        <p:sp>
          <p:nvSpPr>
            <p:cNvPr id="506" name="Google Shape;506;p34"/>
            <p:cNvSpPr/>
            <p:nvPr/>
          </p:nvSpPr>
          <p:spPr>
            <a:xfrm>
              <a:off x="5972700" y="2476950"/>
              <a:ext cx="98050" cy="219825"/>
            </a:xfrm>
            <a:custGeom>
              <a:avLst/>
              <a:gdLst/>
              <a:ahLst/>
              <a:cxnLst/>
              <a:rect l="0" t="0" r="0" b="0"/>
              <a:pathLst>
                <a:path w="3922" h="8793" fill="none" extrusionOk="0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w="1905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4"/>
            <p:cNvSpPr/>
            <p:nvPr/>
          </p:nvSpPr>
          <p:spPr>
            <a:xfrm>
              <a:off x="6078025" y="2330200"/>
              <a:ext cx="306300" cy="387275"/>
            </a:xfrm>
            <a:custGeom>
              <a:avLst/>
              <a:gdLst/>
              <a:ahLst/>
              <a:cxnLst/>
              <a:rect l="0" t="0" r="0" b="0"/>
              <a:pathLst>
                <a:path w="12252" h="15491" fill="none" extrusionOk="0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w="1905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1216</TotalTime>
  <Words>127</Words>
  <Application>Microsoft Office PowerPoint</Application>
  <PresentationFormat>Apresentação na tela (16:9)</PresentationFormat>
  <Paragraphs>99</Paragraphs>
  <Slides>29</Slides>
  <Notes>29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5" baseType="lpstr">
      <vt:lpstr>Arial</vt:lpstr>
      <vt:lpstr>Bahnschrift Light</vt:lpstr>
      <vt:lpstr>Roboto Condensed</vt:lpstr>
      <vt:lpstr>Roboto Condensed Light</vt:lpstr>
      <vt:lpstr>Arvo</vt:lpstr>
      <vt:lpstr>Salerio template</vt:lpstr>
      <vt:lpstr>Eletrônica</vt:lpstr>
      <vt:lpstr>CIRCUITOS COM DIODOS</vt:lpstr>
      <vt:lpstr>CIRCUITOS COM DIODOS</vt:lpstr>
      <vt:lpstr>CIRCUITOS COM DIODOS</vt:lpstr>
      <vt:lpstr>CIRCUITOS COM DIODOS</vt:lpstr>
      <vt:lpstr>CIRCUITOS COM DIODOS</vt:lpstr>
      <vt:lpstr>CIRCUITOS COM DIODOS</vt:lpstr>
      <vt:lpstr>Slide 8</vt:lpstr>
      <vt:lpstr>CIRCUITOS COM DIODOS</vt:lpstr>
      <vt:lpstr>CIRCUITOS COM DIODOS</vt:lpstr>
      <vt:lpstr>CIRCUITOS COM DIODOS</vt:lpstr>
      <vt:lpstr>CIRCUITOS COM DIODOS</vt:lpstr>
      <vt:lpstr>CIRCUITOS COM DIODOS</vt:lpstr>
      <vt:lpstr>CIRCUITOS COM DIODOS</vt:lpstr>
      <vt:lpstr>CIRCUITOS COM DIODOS</vt:lpstr>
      <vt:lpstr>CIRCUITOS COM DIODOS</vt:lpstr>
      <vt:lpstr>CIRCUITOS COM DIODOS</vt:lpstr>
      <vt:lpstr>Slide 18</vt:lpstr>
      <vt:lpstr>CIRCUITOS COM DIODOS</vt:lpstr>
      <vt:lpstr>CIRCUITOS COM DIODOS</vt:lpstr>
      <vt:lpstr>CIRCUITOS COM DIODOS</vt:lpstr>
      <vt:lpstr>CIRCUITOS COM DIODOS</vt:lpstr>
      <vt:lpstr>Slide 23</vt:lpstr>
      <vt:lpstr>CIRCUITOS COM DIODOS</vt:lpstr>
      <vt:lpstr>Slide 25</vt:lpstr>
      <vt:lpstr>Slide 26</vt:lpstr>
      <vt:lpstr>Slide 27</vt:lpstr>
      <vt:lpstr>Slide 28</vt:lpstr>
      <vt:lpstr>THANKS!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DE MEDIÇÃO E CONTROLE ELÉTRICOS</dc:title>
  <dc:creator>Hudson Capanema</dc:creator>
  <cp:lastModifiedBy>Hudson Capanema</cp:lastModifiedBy>
  <cp:revision>108</cp:revision>
  <dcterms:modified xsi:type="dcterms:W3CDTF">2020-08-21T01:48:08Z</dcterms:modified>
</cp:coreProperties>
</file>