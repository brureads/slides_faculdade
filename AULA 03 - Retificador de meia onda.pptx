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19"/>
  </p:notesMasterIdLst>
  <p:sldIdLst>
    <p:sldId id="256" r:id="rId2"/>
    <p:sldId id="469" r:id="rId3"/>
    <p:sldId id="369" r:id="rId4"/>
    <p:sldId id="492" r:id="rId5"/>
    <p:sldId id="493" r:id="rId6"/>
    <p:sldId id="491" r:id="rId7"/>
    <p:sldId id="468" r:id="rId8"/>
    <p:sldId id="495" r:id="rId9"/>
    <p:sldId id="496" r:id="rId10"/>
    <p:sldId id="504" r:id="rId11"/>
    <p:sldId id="497" r:id="rId12"/>
    <p:sldId id="498" r:id="rId13"/>
    <p:sldId id="499" r:id="rId14"/>
    <p:sldId id="500" r:id="rId15"/>
    <p:sldId id="501" r:id="rId16"/>
    <p:sldId id="502" r:id="rId17"/>
    <p:sldId id="494" r:id="rId18"/>
  </p:sldIdLst>
  <p:sldSz cx="9144000" cy="5143500" type="screen16x9"/>
  <p:notesSz cx="6858000" cy="9144000"/>
  <p:embeddedFontLst>
    <p:embeddedFont>
      <p:font typeface="Bahnschrift Light" pitchFamily="34" charset="0"/>
      <p:regular r:id="rId20"/>
    </p:embeddedFont>
    <p:embeddedFont>
      <p:font typeface="Roboto Condensed" charset="0"/>
      <p:regular r:id="rId21"/>
      <p:bold r:id="rId22"/>
      <p:italic r:id="rId23"/>
      <p:boldItalic r:id="rId24"/>
    </p:embeddedFont>
    <p:embeddedFont>
      <p:font typeface="Roboto Condensed Light" charset="0"/>
      <p:regular r:id="rId25"/>
      <p:bold r:id="rId26"/>
      <p:italic r:id="rId27"/>
      <p:boldItalic r:id="rId28"/>
    </p:embeddedFont>
    <p:embeddedFont>
      <p:font typeface="Arvo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A86F63A-29D5-45B3-998B-8ACA1B573FDA}">
  <a:tblStyle styleId="{2A86F63A-29D5-45B3-998B-8ACA1B573FD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90" d="100"/>
          <a:sy n="90" d="100"/>
        </p:scale>
        <p:origin x="-798" y="-10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="" xmlns:p14="http://schemas.microsoft.com/office/powerpoint/2010/main" val="383664043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="" xmlns:p14="http://schemas.microsoft.com/office/powerpoint/2010/main" val="5899266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="" xmlns:p14="http://schemas.microsoft.com/office/powerpoint/2010/main" val="13736390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="" xmlns:p14="http://schemas.microsoft.com/office/powerpoint/2010/main" val="13736390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="" xmlns:p14="http://schemas.microsoft.com/office/powerpoint/2010/main" val="13736390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="" xmlns:p14="http://schemas.microsoft.com/office/powerpoint/2010/main" val="13736390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="" xmlns:p14="http://schemas.microsoft.com/office/powerpoint/2010/main" val="13736390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5ed75ccf_0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35ed75ccf_0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="" xmlns:p14="http://schemas.microsoft.com/office/powerpoint/2010/main" val="11664381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="" xmlns:p14="http://schemas.microsoft.com/office/powerpoint/2010/main" val="13736390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="" xmlns:p14="http://schemas.microsoft.com/office/powerpoint/2010/main" val="13736390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5ed75ccf_0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35ed75ccf_0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="" xmlns:p14="http://schemas.microsoft.com/office/powerpoint/2010/main" val="11664381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="" xmlns:p14="http://schemas.microsoft.com/office/powerpoint/2010/main" val="13736390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="" xmlns:p14="http://schemas.microsoft.com/office/powerpoint/2010/main" val="13736390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5ed75ccf_0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35ed75ccf_0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="" xmlns:p14="http://schemas.microsoft.com/office/powerpoint/2010/main" val="11664381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="" xmlns:p14="http://schemas.microsoft.com/office/powerpoint/2010/main" val="13736390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="" xmlns:p14="http://schemas.microsoft.com/office/powerpoint/2010/main" val="13736390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5ed75ccf_0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35ed75ccf_0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="" xmlns:p14="http://schemas.microsoft.com/office/powerpoint/2010/main" val="11664381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5ed75ccf_0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35ed75ccf_0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="" xmlns:p14="http://schemas.microsoft.com/office/powerpoint/2010/main" val="1166438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7544483" y="657775"/>
            <a:ext cx="1299300" cy="432900"/>
          </a:xfrm>
          <a:prstGeom prst="triangle">
            <a:avLst>
              <a:gd name="adj" fmla="val 32425"/>
            </a:avLst>
          </a:prstGeom>
          <a:solidFill>
            <a:srgbClr val="2632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-7088"/>
            <a:ext cx="8661398" cy="5150588"/>
            <a:chOff x="0" y="-7088"/>
            <a:chExt cx="8661398" cy="5150588"/>
          </a:xfrm>
        </p:grpSpPr>
        <p:sp>
          <p:nvSpPr>
            <p:cNvPr id="12" name="Google Shape;12;p2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rgbClr val="C7D3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solidFill>
              <a:srgbClr val="C7D3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4" name="Google Shape;14;p2"/>
          <p:cNvGrpSpPr/>
          <p:nvPr/>
        </p:nvGrpSpPr>
        <p:grpSpPr>
          <a:xfrm rot="10800000" flipH="1">
            <a:off x="1" y="1090763"/>
            <a:ext cx="8847502" cy="2961975"/>
            <a:chOff x="-8178042" y="-4493254"/>
            <a:chExt cx="19483598" cy="6522736"/>
          </a:xfrm>
        </p:grpSpPr>
        <p:sp>
          <p:nvSpPr>
            <p:cNvPr id="15" name="Google Shape;15;p2"/>
            <p:cNvSpPr/>
            <p:nvPr/>
          </p:nvSpPr>
          <p:spPr>
            <a:xfrm>
              <a:off x="-8178042" y="-4493118"/>
              <a:ext cx="12968400" cy="6522600"/>
            </a:xfrm>
            <a:prstGeom prst="rect">
              <a:avLst/>
            </a:prstGeom>
            <a:solidFill>
              <a:srgbClr val="3F53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solidFill>
              <a:srgbClr val="3F53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7" name="Google Shape;17;p2"/>
          <p:cNvGrpSpPr/>
          <p:nvPr/>
        </p:nvGrpSpPr>
        <p:grpSpPr>
          <a:xfrm>
            <a:off x="3677236" y="4278349"/>
            <a:ext cx="5480829" cy="432996"/>
            <a:chOff x="5582265" y="4646738"/>
            <a:chExt cx="5480829" cy="432996"/>
          </a:xfrm>
        </p:grpSpPr>
        <p:sp>
          <p:nvSpPr>
            <p:cNvPr id="18" name="Google Shape;18;p2"/>
            <p:cNvSpPr/>
            <p:nvPr/>
          </p:nvSpPr>
          <p:spPr>
            <a:xfrm rot="10800000">
              <a:off x="5582265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D26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" name="Google Shape;19;p2"/>
            <p:cNvGrpSpPr/>
            <p:nvPr/>
          </p:nvGrpSpPr>
          <p:grpSpPr>
            <a:xfrm flipH="1">
              <a:off x="5585232" y="4646738"/>
              <a:ext cx="5477861" cy="304551"/>
              <a:chOff x="-24158748" y="330075"/>
              <a:chExt cx="30568423" cy="1699506"/>
            </a:xfrm>
          </p:grpSpPr>
          <p:sp>
            <p:nvSpPr>
              <p:cNvPr id="20" name="Google Shape;20;p2"/>
              <p:cNvSpPr/>
              <p:nvPr/>
            </p:nvSpPr>
            <p:spPr>
              <a:xfrm>
                <a:off x="-24158748" y="330081"/>
                <a:ext cx="289080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4710175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2" name="Google Shape;22;p2"/>
          <p:cNvSpPr txBox="1">
            <a:spLocks noGrp="1"/>
          </p:cNvSpPr>
          <p:nvPr>
            <p:ph type="ctrTitle"/>
          </p:nvPr>
        </p:nvSpPr>
        <p:spPr>
          <a:xfrm>
            <a:off x="685800" y="1090750"/>
            <a:ext cx="5367900" cy="296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oogle Shape;82;p6"/>
          <p:cNvGrpSpPr/>
          <p:nvPr/>
        </p:nvGrpSpPr>
        <p:grpSpPr>
          <a:xfrm>
            <a:off x="-4" y="40"/>
            <a:ext cx="7072430" cy="1327315"/>
            <a:chOff x="-4" y="40"/>
            <a:chExt cx="7072430" cy="1327315"/>
          </a:xfrm>
        </p:grpSpPr>
        <p:sp>
          <p:nvSpPr>
            <p:cNvPr id="83" name="Google Shape;83;p6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name="adj" fmla="val 32425"/>
              </a:avLst>
            </a:prstGeom>
            <a:solidFill>
              <a:srgbClr val="263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84" name="Google Shape;84;p6"/>
            <p:cNvGrpSpPr/>
            <p:nvPr/>
          </p:nvGrpSpPr>
          <p:grpSpPr>
            <a:xfrm rot="10800000" flipH="1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85" name="Google Shape;85;p6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86" name="Google Shape;86;p6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87" name="Google Shape;87;p6"/>
            <p:cNvGrpSpPr/>
            <p:nvPr/>
          </p:nvGrpSpPr>
          <p:grpSpPr>
            <a:xfrm rot="10800000" flipH="1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88" name="Google Shape;88;p6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89" name="Google Shape;89;p6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grpSp>
        <p:nvGrpSpPr>
          <p:cNvPr id="90" name="Google Shape;90;p6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91" name="Google Shape;91;p6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D26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2" name="Google Shape;92;p6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93" name="Google Shape;93;p6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6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5" name="Google Shape;95;p6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96" name="Google Shape;96;p6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6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98" name="Google Shape;98;p6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6"/>
          <p:cNvSpPr txBox="1">
            <a:spLocks noGrp="1"/>
          </p:cNvSpPr>
          <p:nvPr>
            <p:ph type="body" idx="1"/>
          </p:nvPr>
        </p:nvSpPr>
        <p:spPr>
          <a:xfrm>
            <a:off x="814275" y="1537988"/>
            <a:ext cx="3378300" cy="2724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▰"/>
              <a:defRPr sz="2000"/>
            </a:lvl1pPr>
            <a:lvl2pPr marL="914400" lvl="1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2pPr>
            <a:lvl3pPr marL="1371600" lvl="2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3pPr>
            <a:lvl4pPr marL="1828800" lvl="3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4pPr>
            <a:lvl5pPr marL="2286000" lvl="4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5pPr>
            <a:lvl6pPr marL="2743200" lvl="5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6pPr>
            <a:lvl7pPr marL="3200400" lvl="6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7pPr>
            <a:lvl8pPr marL="3657600" lvl="7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8pPr>
            <a:lvl9pPr marL="4114800" lvl="8" indent="-355600">
              <a:spcBef>
                <a:spcPts val="1000"/>
              </a:spcBef>
              <a:spcAft>
                <a:spcPts val="1000"/>
              </a:spcAft>
              <a:buSzPts val="2000"/>
              <a:buChar char="▻"/>
              <a:defRPr sz="2000"/>
            </a:lvl9pPr>
          </a:lstStyle>
          <a:p>
            <a:endParaRPr/>
          </a:p>
        </p:txBody>
      </p:sp>
      <p:sp>
        <p:nvSpPr>
          <p:cNvPr id="100" name="Google Shape;100;p6"/>
          <p:cNvSpPr txBox="1">
            <a:spLocks noGrp="1"/>
          </p:cNvSpPr>
          <p:nvPr>
            <p:ph type="body" idx="2"/>
          </p:nvPr>
        </p:nvSpPr>
        <p:spPr>
          <a:xfrm>
            <a:off x="4396123" y="1537988"/>
            <a:ext cx="3378300" cy="2724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▰"/>
              <a:defRPr sz="2000"/>
            </a:lvl1pPr>
            <a:lvl2pPr marL="914400" lvl="1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2pPr>
            <a:lvl3pPr marL="1371600" lvl="2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3pPr>
            <a:lvl4pPr marL="1828800" lvl="3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4pPr>
            <a:lvl5pPr marL="2286000" lvl="4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5pPr>
            <a:lvl6pPr marL="2743200" lvl="5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6pPr>
            <a:lvl7pPr marL="3200400" lvl="6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7pPr>
            <a:lvl8pPr marL="3657600" lvl="7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8pPr>
            <a:lvl9pPr marL="4114800" lvl="8" indent="-355600">
              <a:spcBef>
                <a:spcPts val="1000"/>
              </a:spcBef>
              <a:spcAft>
                <a:spcPts val="1000"/>
              </a:spcAft>
              <a:buSzPts val="2000"/>
              <a:buChar char="▻"/>
              <a:defRPr sz="2000"/>
            </a:lvl9pPr>
          </a:lstStyle>
          <a:p>
            <a:endParaRPr/>
          </a:p>
        </p:txBody>
      </p:sp>
      <p:sp>
        <p:nvSpPr>
          <p:cNvPr id="101" name="Google Shape;101;p6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  <p:grpSp>
        <p:nvGrpSpPr>
          <p:cNvPr id="164" name="Google Shape;164;p10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165" name="Google Shape;165;p10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D26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6" name="Google Shape;166;p10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167" name="Google Shape;167;p10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10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9" name="Google Shape;169;p10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170" name="Google Shape;170;p10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10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72" name="Google Shape;172;p10"/>
          <p:cNvGrpSpPr/>
          <p:nvPr/>
        </p:nvGrpSpPr>
        <p:grpSpPr>
          <a:xfrm rot="10800000">
            <a:off x="-8" y="-2"/>
            <a:ext cx="2202830" cy="670795"/>
            <a:chOff x="5575242" y="4472723"/>
            <a:chExt cx="2202830" cy="670795"/>
          </a:xfrm>
        </p:grpSpPr>
        <p:sp>
          <p:nvSpPr>
            <p:cNvPr id="173" name="Google Shape;173;p10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263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4" name="Google Shape;174;p10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175" name="Google Shape;175;p10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10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7" name="Google Shape;177;p10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178" name="Google Shape;178;p10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Google Shape;179;p10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4275" y="1327350"/>
            <a:ext cx="6132600" cy="31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▰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lvl="1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lvl="2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lvl="3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lvl="4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lvl="5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lvl="6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lvl="7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lvl="8" indent="-381000">
              <a:spcBef>
                <a:spcPts val="1000"/>
              </a:spcBef>
              <a:spcAft>
                <a:spcPts val="100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6" r:id="rId3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"/>
          <p:cNvSpPr txBox="1">
            <a:spLocks noGrp="1"/>
          </p:cNvSpPr>
          <p:nvPr>
            <p:ph type="ctrTitle"/>
          </p:nvPr>
        </p:nvSpPr>
        <p:spPr>
          <a:xfrm>
            <a:off x="35496" y="1131590"/>
            <a:ext cx="6768752" cy="28803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pt-BR" sz="3600" b="0" dirty="0" smtClean="0">
                <a:latin typeface="Bahnschrift Light" pitchFamily="34" charset="0"/>
              </a:rPr>
              <a:t>ELETRÔNICA I</a:t>
            </a:r>
            <a:br>
              <a:rPr lang="pt-BR" sz="3600" b="0" dirty="0" smtClean="0">
                <a:latin typeface="Bahnschrift Light" pitchFamily="34" charset="0"/>
              </a:rPr>
            </a:br>
            <a:r>
              <a:rPr lang="pt-BR" sz="3600" b="0" dirty="0" smtClean="0">
                <a:latin typeface="Bahnschrift Light" pitchFamily="34" charset="0"/>
              </a:rPr>
              <a:t/>
            </a:r>
            <a:br>
              <a:rPr lang="pt-BR" sz="3600" b="0" dirty="0" smtClean="0">
                <a:latin typeface="Bahnschrift Light" pitchFamily="34" charset="0"/>
              </a:rPr>
            </a:br>
            <a:r>
              <a:rPr lang="pt-BR" sz="3600" b="0" dirty="0" smtClean="0">
                <a:latin typeface="Bahnschrift Light" pitchFamily="34" charset="0"/>
              </a:rPr>
              <a:t>RETIFICADOR DE MEIA ONDA</a:t>
            </a:r>
            <a:endParaRPr lang="pt-BR" sz="3600" b="0" dirty="0">
              <a:latin typeface="Bahnschrift Light" pitchFamily="34" charset="0"/>
            </a:endParaRPr>
          </a:p>
        </p:txBody>
      </p:sp>
      <p:sp>
        <p:nvSpPr>
          <p:cNvPr id="8194" name="AutoShape 2" descr="Resultado de imagem para ATOMO GIF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4" name="Picture 2" descr="Resultado de imagem para uniceub 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452320" y="195486"/>
            <a:ext cx="1514899" cy="51126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4" y="392575"/>
            <a:ext cx="5485917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pt-BR" dirty="0" smtClean="0">
                <a:latin typeface="Bahnschrift Light" pitchFamily="34" charset="0"/>
              </a:rPr>
              <a:t>ELETRÔNICA I – </a:t>
            </a:r>
            <a:r>
              <a:rPr lang="pt-BR" dirty="0" smtClean="0">
                <a:latin typeface="Bahnschrift Light" pitchFamily="34" charset="0"/>
                <a:cs typeface="Arial" pitchFamily="34" charset="0"/>
              </a:rPr>
              <a:t>RETIFICADOR DE MEIA ONDA</a:t>
            </a:r>
            <a:endParaRPr dirty="0">
              <a:latin typeface="Bahnschrift Light" pitchFamily="34" charset="0"/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/>
          </a:p>
        </p:txBody>
      </p:sp>
      <p:sp>
        <p:nvSpPr>
          <p:cNvPr id="193" name="Google Shape;193;p12"/>
          <p:cNvSpPr txBox="1">
            <a:spLocks noGrp="1"/>
          </p:cNvSpPr>
          <p:nvPr>
            <p:ph type="body" idx="1"/>
          </p:nvPr>
        </p:nvSpPr>
        <p:spPr>
          <a:xfrm>
            <a:off x="251520" y="1347615"/>
            <a:ext cx="8568952" cy="33843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algn="just">
              <a:buNone/>
            </a:pPr>
            <a:r>
              <a:rPr lang="pt-BR" sz="2800" b="1" dirty="0" smtClean="0">
                <a:latin typeface="Bahnschrift Light" pitchFamily="34" charset="0"/>
              </a:rPr>
              <a:t>Valor de pico</a:t>
            </a:r>
            <a:r>
              <a:rPr lang="pt-BR" sz="2800" dirty="0" smtClean="0">
                <a:latin typeface="Bahnschrift Light" pitchFamily="34" charset="0"/>
              </a:rPr>
              <a:t>: É o maior valor instantâneo da onda. </a:t>
            </a:r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74116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0" t="0" r="0" b="0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0" t="0" r="0" b="0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0" t="0" r="0" b="0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0" t="0" r="0" b="0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8674" name="Picture 2" descr="Resultado de imagem para valor de pic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915816" y="2499742"/>
            <a:ext cx="3419475" cy="1762126"/>
          </a:xfrm>
          <a:prstGeom prst="rect">
            <a:avLst/>
          </a:prstGeom>
          <a:noFill/>
        </p:spPr>
      </p:pic>
      <p:pic>
        <p:nvPicPr>
          <p:cNvPr id="21" name="Picture 2" descr="Resultado de imagem para uniceub 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452320" y="195486"/>
            <a:ext cx="1514899" cy="51126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4" y="392575"/>
            <a:ext cx="5485917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pt-BR" dirty="0" smtClean="0">
                <a:latin typeface="Bahnschrift Light" pitchFamily="34" charset="0"/>
              </a:rPr>
              <a:t>ELETRÔNICA I – </a:t>
            </a:r>
            <a:r>
              <a:rPr lang="pt-BR" dirty="0" smtClean="0">
                <a:latin typeface="Bahnschrift Light" pitchFamily="34" charset="0"/>
                <a:cs typeface="Arial" pitchFamily="34" charset="0"/>
              </a:rPr>
              <a:t>RETIFICADOR DE MEIA ONDA</a:t>
            </a:r>
            <a:endParaRPr lang="pt-BR" dirty="0">
              <a:latin typeface="Bahnschrift Light" pitchFamily="34" charset="0"/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/>
          </a:p>
        </p:txBody>
      </p:sp>
      <p:sp>
        <p:nvSpPr>
          <p:cNvPr id="193" name="Google Shape;193;p12"/>
          <p:cNvSpPr txBox="1">
            <a:spLocks noGrp="1"/>
          </p:cNvSpPr>
          <p:nvPr>
            <p:ph type="body" idx="1"/>
          </p:nvPr>
        </p:nvSpPr>
        <p:spPr>
          <a:xfrm>
            <a:off x="251520" y="1563639"/>
            <a:ext cx="8568952" cy="33843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algn="just">
              <a:buNone/>
            </a:pPr>
            <a:r>
              <a:rPr lang="pt-BR" sz="2800" b="1" dirty="0" smtClean="0">
                <a:latin typeface="Bahnschrift Light" pitchFamily="34" charset="0"/>
              </a:rPr>
              <a:t>Valor Eficaz</a:t>
            </a:r>
            <a:r>
              <a:rPr lang="pt-BR" sz="2800" dirty="0" smtClean="0">
                <a:latin typeface="Bahnschrift Light" pitchFamily="34" charset="0"/>
              </a:rPr>
              <a:t>: É o equivalente a quantidade de energia fornecida por uma fonte contínua. Se chama eficaz, porque é o valor que produzirá trabalho. </a:t>
            </a:r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74116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0" t="0" r="0" b="0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0" t="0" r="0" b="0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0" t="0" r="0" b="0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0" t="0" r="0" b="0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0" name="Picture 2" descr="Resultado de imagem para uniceub 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452320" y="195486"/>
            <a:ext cx="1514899" cy="51126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4" y="392575"/>
            <a:ext cx="5485917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pt-BR" dirty="0" smtClean="0">
                <a:latin typeface="Bahnschrift Light" pitchFamily="34" charset="0"/>
              </a:rPr>
              <a:t>ELETRÔNICA I – </a:t>
            </a:r>
            <a:r>
              <a:rPr lang="pt-BR" dirty="0" smtClean="0">
                <a:latin typeface="Bahnschrift Light" pitchFamily="34" charset="0"/>
                <a:cs typeface="Arial" pitchFamily="34" charset="0"/>
              </a:rPr>
              <a:t>RETIFICADOR DE MEIA ONDA</a:t>
            </a:r>
            <a:endParaRPr lang="pt-BR" dirty="0">
              <a:latin typeface="Bahnschrift Light" pitchFamily="34" charset="0"/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/>
          </a:p>
        </p:txBody>
      </p:sp>
      <p:sp>
        <p:nvSpPr>
          <p:cNvPr id="193" name="Google Shape;193;p12"/>
          <p:cNvSpPr txBox="1">
            <a:spLocks noGrp="1"/>
          </p:cNvSpPr>
          <p:nvPr>
            <p:ph type="body" idx="1"/>
          </p:nvPr>
        </p:nvSpPr>
        <p:spPr>
          <a:xfrm>
            <a:off x="251520" y="1563638"/>
            <a:ext cx="4536504" cy="30243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algn="just">
              <a:buNone/>
            </a:pPr>
            <a:r>
              <a:rPr lang="pt-BR" sz="2800" dirty="0" smtClean="0">
                <a:latin typeface="Bahnschrift Light" pitchFamily="34" charset="0"/>
              </a:rPr>
              <a:t>Para calcular o valor eficaz ou rms a partir do valor de pico:</a:t>
            </a:r>
          </a:p>
          <a:p>
            <a:pPr marL="0" algn="just">
              <a:buNone/>
            </a:pPr>
            <a:endParaRPr lang="pt-BR" sz="2800" dirty="0" smtClean="0">
              <a:latin typeface="Bahnschrift Light" pitchFamily="34" charset="0"/>
            </a:endParaRPr>
          </a:p>
          <a:p>
            <a:pPr marL="0" algn="just">
              <a:buNone/>
            </a:pPr>
            <a:r>
              <a:rPr lang="pt-BR" sz="2800" dirty="0" smtClean="0">
                <a:latin typeface="Bahnschrift Light" pitchFamily="34" charset="0"/>
              </a:rPr>
              <a:t>V</a:t>
            </a:r>
            <a:r>
              <a:rPr lang="pt-BR" sz="2800" baseline="-25000" dirty="0" smtClean="0">
                <a:latin typeface="Bahnschrift Light" pitchFamily="34" charset="0"/>
              </a:rPr>
              <a:t>rms</a:t>
            </a:r>
            <a:r>
              <a:rPr lang="pt-BR" sz="2800" dirty="0" smtClean="0">
                <a:latin typeface="Bahnschrift Light" pitchFamily="34" charset="0"/>
              </a:rPr>
              <a:t> = </a:t>
            </a:r>
            <a:r>
              <a:rPr lang="pt-BR" sz="2800" dirty="0" err="1" smtClean="0">
                <a:latin typeface="Bahnschrift Light" pitchFamily="34" charset="0"/>
              </a:rPr>
              <a:t>V</a:t>
            </a:r>
            <a:r>
              <a:rPr lang="pt-BR" sz="2800" baseline="-25000" dirty="0" err="1" smtClean="0">
                <a:latin typeface="Bahnschrift Light" pitchFamily="34" charset="0"/>
              </a:rPr>
              <a:t>pico</a:t>
            </a:r>
            <a:r>
              <a:rPr lang="pt-BR" sz="2800" dirty="0" smtClean="0">
                <a:latin typeface="Bahnschrift Light" pitchFamily="34" charset="0"/>
              </a:rPr>
              <a:t>/√2 </a:t>
            </a:r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74116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0" t="0" r="0" b="0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0" t="0" r="0" b="0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0" t="0" r="0" b="0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0" t="0" r="0" b="0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0722" name="Picture 2" descr="Resultado de imagem para valor eficaz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788024" y="1735706"/>
            <a:ext cx="3975734" cy="2594606"/>
          </a:xfrm>
          <a:prstGeom prst="rect">
            <a:avLst/>
          </a:prstGeom>
          <a:noFill/>
        </p:spPr>
      </p:pic>
      <p:pic>
        <p:nvPicPr>
          <p:cNvPr id="21" name="Picture 2" descr="Resultado de imagem para uniceub 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452320" y="195486"/>
            <a:ext cx="1514899" cy="51126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4" y="392575"/>
            <a:ext cx="5485917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pt-BR" dirty="0" smtClean="0">
                <a:latin typeface="Bahnschrift Light" pitchFamily="34" charset="0"/>
              </a:rPr>
              <a:t>ELETRÔNICA I – </a:t>
            </a:r>
            <a:r>
              <a:rPr lang="pt-BR" dirty="0" smtClean="0">
                <a:latin typeface="Bahnschrift Light" pitchFamily="34" charset="0"/>
                <a:cs typeface="Arial" pitchFamily="34" charset="0"/>
              </a:rPr>
              <a:t>RETIFICADOR DE MEIA ONDA</a:t>
            </a:r>
            <a:endParaRPr dirty="0">
              <a:latin typeface="Bahnschrift Light" pitchFamily="34" charset="0"/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/>
          </a:p>
        </p:txBody>
      </p:sp>
      <p:sp>
        <p:nvSpPr>
          <p:cNvPr id="193" name="Google Shape;193;p12"/>
          <p:cNvSpPr txBox="1">
            <a:spLocks noGrp="1"/>
          </p:cNvSpPr>
          <p:nvPr>
            <p:ph type="body" idx="1"/>
          </p:nvPr>
        </p:nvSpPr>
        <p:spPr>
          <a:xfrm>
            <a:off x="251520" y="1347615"/>
            <a:ext cx="8568952" cy="33843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algn="just">
              <a:buNone/>
            </a:pPr>
            <a:r>
              <a:rPr lang="pt-BR" sz="2800" b="1" dirty="0" smtClean="0">
                <a:latin typeface="Bahnschrift Light" pitchFamily="34" charset="0"/>
              </a:rPr>
              <a:t>Valor pico a pico</a:t>
            </a:r>
            <a:r>
              <a:rPr lang="pt-BR" sz="2800" dirty="0" smtClean="0">
                <a:latin typeface="Bahnschrift Light" pitchFamily="34" charset="0"/>
              </a:rPr>
              <a:t>: É o valor integral da onda, soma em módulo dos picos positivo e negativo. </a:t>
            </a:r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74116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0" t="0" r="0" b="0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0" t="0" r="0" b="0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0" t="0" r="0" b="0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0" t="0" r="0" b="0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1986" name="Picture 2" descr="Resultado de imagem para valor de pico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339752" y="2715766"/>
            <a:ext cx="4876800" cy="2143125"/>
          </a:xfrm>
          <a:prstGeom prst="rect">
            <a:avLst/>
          </a:prstGeom>
          <a:noFill/>
        </p:spPr>
      </p:pic>
      <p:pic>
        <p:nvPicPr>
          <p:cNvPr id="21" name="Picture 2" descr="Resultado de imagem para uniceub 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452320" y="195486"/>
            <a:ext cx="1514899" cy="51126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4" y="392575"/>
            <a:ext cx="5485917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pt-BR" dirty="0" smtClean="0">
                <a:latin typeface="Bahnschrift Light" pitchFamily="34" charset="0"/>
              </a:rPr>
              <a:t>ELETRÔNICA I – </a:t>
            </a:r>
            <a:r>
              <a:rPr lang="pt-BR" dirty="0" smtClean="0">
                <a:latin typeface="Bahnschrift Light" pitchFamily="34" charset="0"/>
                <a:cs typeface="Arial" pitchFamily="34" charset="0"/>
              </a:rPr>
              <a:t>RETIFICADOR DE MEIA ONDA</a:t>
            </a:r>
            <a:endParaRPr dirty="0">
              <a:latin typeface="Bahnschrift Light" pitchFamily="34" charset="0"/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/>
          </a:p>
        </p:txBody>
      </p:sp>
      <p:sp>
        <p:nvSpPr>
          <p:cNvPr id="193" name="Google Shape;193;p12"/>
          <p:cNvSpPr txBox="1">
            <a:spLocks noGrp="1"/>
          </p:cNvSpPr>
          <p:nvPr>
            <p:ph type="body" idx="1"/>
          </p:nvPr>
        </p:nvSpPr>
        <p:spPr>
          <a:xfrm>
            <a:off x="251520" y="1347615"/>
            <a:ext cx="8568952" cy="33843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algn="just">
              <a:buNone/>
            </a:pPr>
            <a:r>
              <a:rPr lang="pt-BR" sz="2800" b="1" dirty="0" smtClean="0">
                <a:latin typeface="Bahnschrift Light" pitchFamily="34" charset="0"/>
              </a:rPr>
              <a:t>Valor médio:</a:t>
            </a:r>
            <a:r>
              <a:rPr lang="pt-BR" sz="2800" dirty="0" smtClean="0">
                <a:latin typeface="Bahnschrift Light" pitchFamily="34" charset="0"/>
              </a:rPr>
              <a:t> É o valor em que é feita a média aritmética de todos os valores instantâneos. Em uma função tipo seno o valor médio é igual a zero, pois todo valor positivo é anulado por um valor negativo na soma.</a:t>
            </a:r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74116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0" t="0" r="0" b="0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0" t="0" r="0" b="0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0" t="0" r="0" b="0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0" t="0" r="0" b="0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0" name="Picture 2" descr="Resultado de imagem para uniceub 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452320" y="195486"/>
            <a:ext cx="1514899" cy="51126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34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/>
          </a:p>
        </p:txBody>
      </p:sp>
      <p:pic>
        <p:nvPicPr>
          <p:cNvPr id="26626" name="Picture 2" descr="Resultado de imagem para transformador eletronic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95536" y="1347614"/>
            <a:ext cx="4211960" cy="2879270"/>
          </a:xfrm>
          <a:prstGeom prst="rect">
            <a:avLst/>
          </a:prstGeom>
          <a:noFill/>
        </p:spPr>
      </p:pic>
      <p:sp>
        <p:nvSpPr>
          <p:cNvPr id="11" name="Subtítulo 2"/>
          <p:cNvSpPr txBox="1">
            <a:spLocks/>
          </p:cNvSpPr>
          <p:nvPr/>
        </p:nvSpPr>
        <p:spPr>
          <a:xfrm>
            <a:off x="4211960" y="555526"/>
            <a:ext cx="3384376" cy="3960440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2800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ahnschrift Light" pitchFamily="34" charset="0"/>
                <a:ea typeface="Arial"/>
                <a:cs typeface="Arial" pitchFamily="34" charset="0"/>
                <a:sym typeface="Arial"/>
              </a:rPr>
              <a:t>Para calcular transformadores ideais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lang="pt-BR" sz="2800" dirty="0" smtClean="0">
              <a:solidFill>
                <a:srgbClr val="002060"/>
              </a:solidFill>
              <a:latin typeface="Bahnschrift Light" pitchFamily="34" charset="0"/>
              <a:cs typeface="Arial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2800" i="0" u="none" strike="noStrike" kern="0" cap="none" spc="0" normalizeH="0" baseline="0" noProof="0" dirty="0" smtClean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Bahnschrift Light" pitchFamily="34" charset="0"/>
              <a:ea typeface="Arial"/>
              <a:cs typeface="Arial" pitchFamily="34" charset="0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2800" i="0" u="none" strike="noStrike" kern="0" cap="none" spc="0" normalizeH="0" baseline="0" noProof="0" dirty="0" smtClean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Bahnschrift Light" pitchFamily="34" charset="0"/>
              <a:ea typeface="Arial"/>
              <a:cs typeface="Arial" pitchFamily="34" charset="0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2800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ahnschrift Light" pitchFamily="34" charset="0"/>
                <a:ea typeface="Arial"/>
                <a:cs typeface="Arial" pitchFamily="34" charset="0"/>
                <a:sym typeface="Arial"/>
              </a:rPr>
              <a:t>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2800" i="0" u="none" strike="noStrike" kern="0" cap="none" spc="0" normalizeH="0" baseline="0" noProof="0" dirty="0" smtClean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Bahnschrift Light" pitchFamily="34" charset="0"/>
              <a:ea typeface="Arial"/>
              <a:cs typeface="Arial" pitchFamily="34" charset="0"/>
              <a:sym typeface="Arial"/>
            </a:endParaRPr>
          </a:p>
        </p:txBody>
      </p:sp>
      <p:sp>
        <p:nvSpPr>
          <p:cNvPr id="26629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26630" name="Rectangle 6"/>
          <p:cNvSpPr>
            <a:spLocks noChangeArrowheads="1"/>
          </p:cNvSpPr>
          <p:nvPr/>
        </p:nvSpPr>
        <p:spPr bwMode="auto">
          <a:xfrm>
            <a:off x="0" y="9525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6632" name="Rectangle 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pic>
        <p:nvPicPr>
          <p:cNvPr id="26631" name="Picture 7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220072" y="2355727"/>
            <a:ext cx="1227301" cy="792088"/>
          </a:xfrm>
          <a:prstGeom prst="rect">
            <a:avLst/>
          </a:prstGeom>
          <a:noFill/>
        </p:spPr>
      </p:pic>
      <p:sp>
        <p:nvSpPr>
          <p:cNvPr id="26633" name="Rectangle 9"/>
          <p:cNvSpPr>
            <a:spLocks noChangeArrowheads="1"/>
          </p:cNvSpPr>
          <p:nvPr/>
        </p:nvSpPr>
        <p:spPr bwMode="auto">
          <a:xfrm>
            <a:off x="0" y="13239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6635" name="Rectangle 1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pic>
        <p:nvPicPr>
          <p:cNvPr id="26634" name="Picture 10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076056" y="3867894"/>
            <a:ext cx="1676400" cy="476250"/>
          </a:xfrm>
          <a:prstGeom prst="rect">
            <a:avLst/>
          </a:prstGeom>
          <a:noFill/>
        </p:spPr>
      </p:pic>
      <p:sp>
        <p:nvSpPr>
          <p:cNvPr id="26636" name="Rectangle 12"/>
          <p:cNvSpPr>
            <a:spLocks noChangeArrowheads="1"/>
          </p:cNvSpPr>
          <p:nvPr/>
        </p:nvSpPr>
        <p:spPr bwMode="auto">
          <a:xfrm>
            <a:off x="0" y="9334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13" name="Picture 2" descr="Resultado de imagem para uniceub pn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452320" y="195486"/>
            <a:ext cx="1514899" cy="51126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4" y="392575"/>
            <a:ext cx="5485917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pt-BR" dirty="0" smtClean="0">
                <a:latin typeface="Bahnschrift Light" pitchFamily="34" charset="0"/>
              </a:rPr>
              <a:t>ELETRÔNICA I – </a:t>
            </a:r>
            <a:r>
              <a:rPr lang="pt-BR" dirty="0" smtClean="0">
                <a:latin typeface="Bahnschrift Light" pitchFamily="34" charset="0"/>
                <a:cs typeface="Arial" pitchFamily="34" charset="0"/>
              </a:rPr>
              <a:t>RETIFICADOR DE MEIA ONDA</a:t>
            </a:r>
            <a:endParaRPr dirty="0">
              <a:latin typeface="Bahnschrift Light" pitchFamily="34" charset="0"/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/>
          </a:p>
        </p:txBody>
      </p:sp>
      <p:sp>
        <p:nvSpPr>
          <p:cNvPr id="193" name="Google Shape;193;p12"/>
          <p:cNvSpPr txBox="1">
            <a:spLocks noGrp="1"/>
          </p:cNvSpPr>
          <p:nvPr>
            <p:ph type="body" idx="1"/>
          </p:nvPr>
        </p:nvSpPr>
        <p:spPr>
          <a:xfrm>
            <a:off x="251520" y="1347615"/>
            <a:ext cx="8568952" cy="33843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algn="just">
              <a:buNone/>
            </a:pPr>
            <a:r>
              <a:rPr lang="pt-BR" sz="2800" dirty="0" smtClean="0">
                <a:latin typeface="Bahnschrift Light" pitchFamily="34" charset="0"/>
              </a:rPr>
              <a:t>Exercício de fixação:</a:t>
            </a:r>
          </a:p>
          <a:p>
            <a:pPr marL="0" algn="just">
              <a:buNone/>
            </a:pPr>
            <a:r>
              <a:rPr lang="pt-BR" sz="2800" dirty="0" smtClean="0">
                <a:latin typeface="Bahnschrift Light" pitchFamily="34" charset="0"/>
              </a:rPr>
              <a:t>1) Existe uma tensão de pico de 280 volts na entrada de um transformador com 25000 espiras no primário e 10000 espiras no secundário. Qual tipo de transformador é esse e qual sua tensão eficaz de saída?</a:t>
            </a:r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74116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0" t="0" r="0" b="0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0" t="0" r="0" b="0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0" t="0" r="0" b="0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0" t="0" r="0" b="0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0" name="Picture 2" descr="Resultado de imagem para uniceub 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452320" y="195486"/>
            <a:ext cx="1514899" cy="51126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4" y="392575"/>
            <a:ext cx="5485917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pt-BR" dirty="0" smtClean="0">
                <a:latin typeface="Bahnschrift Light" pitchFamily="34" charset="0"/>
              </a:rPr>
              <a:t>ELETRÔNICA I – </a:t>
            </a:r>
            <a:r>
              <a:rPr lang="pt-BR" dirty="0" smtClean="0">
                <a:latin typeface="Bahnschrift Light" pitchFamily="34" charset="0"/>
                <a:cs typeface="Arial" pitchFamily="34" charset="0"/>
              </a:rPr>
              <a:t>RETIFICADOR DE MEIA ONDA</a:t>
            </a:r>
            <a:endParaRPr dirty="0">
              <a:latin typeface="Bahnschrift Light" pitchFamily="34" charset="0"/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/>
          </a:p>
        </p:txBody>
      </p:sp>
      <p:sp>
        <p:nvSpPr>
          <p:cNvPr id="193" name="Google Shape;193;p12"/>
          <p:cNvSpPr txBox="1">
            <a:spLocks noGrp="1"/>
          </p:cNvSpPr>
          <p:nvPr>
            <p:ph type="body" idx="1"/>
          </p:nvPr>
        </p:nvSpPr>
        <p:spPr>
          <a:xfrm>
            <a:off x="251520" y="1347615"/>
            <a:ext cx="8568952" cy="33843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algn="just">
              <a:buNone/>
            </a:pPr>
            <a:r>
              <a:rPr lang="pt-BR" sz="2800" dirty="0" smtClean="0">
                <a:latin typeface="Bahnschrift Light" pitchFamily="34" charset="0"/>
              </a:rPr>
              <a:t>2) Um transformador elevador possui 30000 espiras no primário e uma tensão rms de 100V. Quantas espiras no secundário seriam necessárias para uma saída com tensão de pico de 300V? </a:t>
            </a:r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74116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0" t="0" r="0" b="0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0" t="0" r="0" b="0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0" t="0" r="0" b="0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0" t="0" r="0" b="0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0" name="Picture 2" descr="Resultado de imagem para uniceub 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452320" y="195486"/>
            <a:ext cx="1514899" cy="51126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34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10</a:t>
            </a:fld>
            <a:endParaRPr/>
          </a:p>
        </p:txBody>
      </p:sp>
      <p:sp>
        <p:nvSpPr>
          <p:cNvPr id="26629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26630" name="Rectangle 6"/>
          <p:cNvSpPr>
            <a:spLocks noChangeArrowheads="1"/>
          </p:cNvSpPr>
          <p:nvPr/>
        </p:nvSpPr>
        <p:spPr bwMode="auto">
          <a:xfrm>
            <a:off x="0" y="9525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6632" name="Rectangle 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26633" name="Rectangle 9"/>
          <p:cNvSpPr>
            <a:spLocks noChangeArrowheads="1"/>
          </p:cNvSpPr>
          <p:nvPr/>
        </p:nvSpPr>
        <p:spPr bwMode="auto">
          <a:xfrm>
            <a:off x="0" y="13239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6635" name="Rectangle 1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26636" name="Rectangle 12"/>
          <p:cNvSpPr>
            <a:spLocks noChangeArrowheads="1"/>
          </p:cNvSpPr>
          <p:nvPr/>
        </p:nvSpPr>
        <p:spPr bwMode="auto">
          <a:xfrm>
            <a:off x="0" y="9334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46082" name="Picture 2" descr="Resultado de imagem para retificadores de meia onda"/>
          <p:cNvPicPr>
            <a:picLocks noChangeAspect="1" noChangeArrowheads="1"/>
          </p:cNvPicPr>
          <p:nvPr/>
        </p:nvPicPr>
        <p:blipFill>
          <a:blip r:embed="rId3">
            <a:lum contrast="30000"/>
          </a:blip>
          <a:srcRect/>
          <a:stretch>
            <a:fillRect/>
          </a:stretch>
        </p:blipFill>
        <p:spPr bwMode="auto">
          <a:xfrm>
            <a:off x="725608" y="1275606"/>
            <a:ext cx="7692785" cy="2592288"/>
          </a:xfrm>
          <a:prstGeom prst="rect">
            <a:avLst/>
          </a:prstGeom>
          <a:noFill/>
        </p:spPr>
      </p:pic>
      <p:sp>
        <p:nvSpPr>
          <p:cNvPr id="14" name="Retângulo 13"/>
          <p:cNvSpPr/>
          <p:nvPr/>
        </p:nvSpPr>
        <p:spPr>
          <a:xfrm>
            <a:off x="2735796" y="483518"/>
            <a:ext cx="367240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000" dirty="0" smtClean="0">
                <a:solidFill>
                  <a:srgbClr val="002060"/>
                </a:solidFill>
                <a:latin typeface="Bahnschrift Light" pitchFamily="34" charset="0"/>
                <a:cs typeface="Arial" pitchFamily="34" charset="0"/>
              </a:rPr>
              <a:t>RETIFICADOR DE MEIA ONDA</a:t>
            </a:r>
            <a:endParaRPr lang="pt-BR" sz="2000" dirty="0">
              <a:solidFill>
                <a:srgbClr val="002060"/>
              </a:solidFill>
            </a:endParaRPr>
          </a:p>
        </p:txBody>
      </p:sp>
      <p:pic>
        <p:nvPicPr>
          <p:cNvPr id="12" name="Picture 2" descr="Resultado de imagem para uniceub 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452320" y="195486"/>
            <a:ext cx="1514899" cy="51126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4" y="392575"/>
            <a:ext cx="5485917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pt-BR" dirty="0" smtClean="0">
                <a:latin typeface="Bahnschrift Light" pitchFamily="34" charset="0"/>
              </a:rPr>
              <a:t>ELETRÔNICA I – </a:t>
            </a:r>
            <a:r>
              <a:rPr lang="pt-BR" dirty="0" smtClean="0">
                <a:latin typeface="Bahnschrift Light" pitchFamily="34" charset="0"/>
                <a:cs typeface="Arial" pitchFamily="34" charset="0"/>
              </a:rPr>
              <a:t>RETIFICADOR DE MEIA ONDA</a:t>
            </a:r>
            <a:endParaRPr dirty="0">
              <a:latin typeface="Bahnschrift Light" pitchFamily="34" charset="0"/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11</a:t>
            </a:fld>
            <a:endParaRPr/>
          </a:p>
        </p:txBody>
      </p:sp>
      <p:sp>
        <p:nvSpPr>
          <p:cNvPr id="193" name="Google Shape;193;p12"/>
          <p:cNvSpPr txBox="1">
            <a:spLocks noGrp="1"/>
          </p:cNvSpPr>
          <p:nvPr>
            <p:ph type="body" idx="1"/>
          </p:nvPr>
        </p:nvSpPr>
        <p:spPr>
          <a:xfrm>
            <a:off x="251520" y="1347615"/>
            <a:ext cx="8568952" cy="33843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algn="just">
              <a:buNone/>
            </a:pPr>
            <a:r>
              <a:rPr lang="pt-BR" sz="2800" dirty="0" smtClean="0">
                <a:latin typeface="Bahnschrift Light" pitchFamily="34" charset="0"/>
              </a:rPr>
              <a:t>O mais simples dos retificadores é o retificador de meia onda, sua constituição básica é um diodo em série com uma carga RL.</a:t>
            </a:r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74116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0" t="0" r="0" b="0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0" t="0" r="0" b="0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0" t="0" r="0" b="0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0" t="0" r="0" b="0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2" name="Picture 2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292188" y="2931790"/>
            <a:ext cx="6232140" cy="2088232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23" name="Picture 2" descr="Resultado de imagem para uniceub 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452320" y="195486"/>
            <a:ext cx="1514899" cy="51126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4" y="392575"/>
            <a:ext cx="5485917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pt-BR" dirty="0" smtClean="0">
                <a:latin typeface="Bahnschrift Light" pitchFamily="34" charset="0"/>
              </a:rPr>
              <a:t>ELETRÔNICA I – </a:t>
            </a:r>
            <a:r>
              <a:rPr lang="pt-BR" dirty="0" smtClean="0">
                <a:latin typeface="Bahnschrift Light" pitchFamily="34" charset="0"/>
                <a:cs typeface="Arial" pitchFamily="34" charset="0"/>
              </a:rPr>
              <a:t>RETIFICADOR DE MEIA ONDA</a:t>
            </a:r>
            <a:endParaRPr dirty="0">
              <a:latin typeface="Bahnschrift Light" pitchFamily="34" charset="0"/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12</a:t>
            </a:fld>
            <a:endParaRPr/>
          </a:p>
        </p:txBody>
      </p:sp>
      <p:sp>
        <p:nvSpPr>
          <p:cNvPr id="193" name="Google Shape;193;p12"/>
          <p:cNvSpPr txBox="1">
            <a:spLocks noGrp="1"/>
          </p:cNvSpPr>
          <p:nvPr>
            <p:ph type="body" idx="1"/>
          </p:nvPr>
        </p:nvSpPr>
        <p:spPr>
          <a:xfrm>
            <a:off x="251520" y="1347615"/>
            <a:ext cx="8640960" cy="33843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algn="just">
              <a:buNone/>
            </a:pPr>
            <a:r>
              <a:rPr lang="pt-BR" sz="2800" dirty="0" smtClean="0">
                <a:latin typeface="Bahnschrift Light" pitchFamily="34" charset="0"/>
              </a:rPr>
              <a:t>Durante o semiciclo positivo da tensão de entrada, o diodo conduz, fazendo com que a tensão de saída seja igual a tensão de entrada, porém no semiciclo negativo, o diodo corta, fazendo com que a tensão de saída seja nula e a tensão de entrada caia toda em cima do diodo.</a:t>
            </a:r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74116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0" t="0" r="0" b="0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0" t="0" r="0" b="0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0" t="0" r="0" b="0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0" t="0" r="0" b="0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0" name="Picture 2" descr="Resultado de imagem para uniceub 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452320" y="195486"/>
            <a:ext cx="1514899" cy="51126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34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13</a:t>
            </a:fld>
            <a:endParaRPr/>
          </a:p>
        </p:txBody>
      </p:sp>
      <p:sp>
        <p:nvSpPr>
          <p:cNvPr id="26629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26630" name="Rectangle 6"/>
          <p:cNvSpPr>
            <a:spLocks noChangeArrowheads="1"/>
          </p:cNvSpPr>
          <p:nvPr/>
        </p:nvSpPr>
        <p:spPr bwMode="auto">
          <a:xfrm>
            <a:off x="0" y="9525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6632" name="Rectangle 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26633" name="Rectangle 9"/>
          <p:cNvSpPr>
            <a:spLocks noChangeArrowheads="1"/>
          </p:cNvSpPr>
          <p:nvPr/>
        </p:nvSpPr>
        <p:spPr bwMode="auto">
          <a:xfrm>
            <a:off x="0" y="13239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6635" name="Rectangle 1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26636" name="Rectangle 12"/>
          <p:cNvSpPr>
            <a:spLocks noChangeArrowheads="1"/>
          </p:cNvSpPr>
          <p:nvPr/>
        </p:nvSpPr>
        <p:spPr bwMode="auto">
          <a:xfrm>
            <a:off x="0" y="9334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13" name="Picture 2" descr="http://s3.amazonaws.com/magoo/ABAAAAn1UAA-1.jpg"/>
          <p:cNvPicPr>
            <a:picLocks noChangeAspect="1" noChangeArrowheads="1"/>
          </p:cNvPicPr>
          <p:nvPr/>
        </p:nvPicPr>
        <p:blipFill>
          <a:blip r:embed="rId3" cstate="print">
            <a:lum contrast="10000"/>
          </a:blip>
          <a:srcRect/>
          <a:stretch>
            <a:fillRect/>
          </a:stretch>
        </p:blipFill>
        <p:spPr bwMode="auto">
          <a:xfrm>
            <a:off x="1907704" y="699542"/>
            <a:ext cx="5184576" cy="4008957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10" name="Picture 2" descr="Resultado de imagem para uniceub 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452320" y="195486"/>
            <a:ext cx="1514899" cy="51126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4" y="392575"/>
            <a:ext cx="5485917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pt-BR" dirty="0" smtClean="0">
                <a:latin typeface="Bahnschrift Light" pitchFamily="34" charset="0"/>
              </a:rPr>
              <a:t>ELETRÔNICA I – </a:t>
            </a:r>
            <a:r>
              <a:rPr lang="pt-BR" dirty="0" smtClean="0">
                <a:latin typeface="Bahnschrift Light" pitchFamily="34" charset="0"/>
                <a:cs typeface="Arial" pitchFamily="34" charset="0"/>
              </a:rPr>
              <a:t>RETIFICADOR DE MEIA ONDA</a:t>
            </a:r>
            <a:endParaRPr dirty="0">
              <a:latin typeface="Bahnschrift Light" pitchFamily="34" charset="0"/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14</a:t>
            </a:fld>
            <a:endParaRPr/>
          </a:p>
        </p:txBody>
      </p:sp>
      <p:sp>
        <p:nvSpPr>
          <p:cNvPr id="193" name="Google Shape;193;p12"/>
          <p:cNvSpPr txBox="1">
            <a:spLocks noGrp="1"/>
          </p:cNvSpPr>
          <p:nvPr>
            <p:ph type="body" idx="1"/>
          </p:nvPr>
        </p:nvSpPr>
        <p:spPr>
          <a:xfrm>
            <a:off x="251520" y="1347615"/>
            <a:ext cx="8640960" cy="33843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algn="just">
              <a:buNone/>
            </a:pPr>
            <a:r>
              <a:rPr lang="pt-BR" sz="2800" dirty="0" smtClean="0">
                <a:latin typeface="Bahnschrift Light" pitchFamily="34" charset="0"/>
              </a:rPr>
              <a:t>Como a forma de onda na carga não é mais senoidal, embora a frequência seja a mesma da tensão de entrada, seu valor médio deixa de ser nulo, podendo ser calculado por: </a:t>
            </a:r>
          </a:p>
          <a:p>
            <a:pPr marL="0" algn="just">
              <a:buNone/>
            </a:pPr>
            <a:r>
              <a:rPr lang="pt-BR" sz="2800" dirty="0" smtClean="0">
                <a:latin typeface="Bahnschrift Light" pitchFamily="34" charset="0"/>
              </a:rPr>
              <a:t>Diodo ideal </a:t>
            </a:r>
            <a:r>
              <a:rPr lang="pt-BR" sz="2800" dirty="0" err="1" smtClean="0">
                <a:latin typeface="Bahnschrift Light" pitchFamily="34" charset="0"/>
              </a:rPr>
              <a:t>V</a:t>
            </a:r>
            <a:r>
              <a:rPr lang="pt-BR" sz="2800" baseline="-25000" dirty="0" err="1" smtClean="0">
                <a:latin typeface="Bahnschrift Light" pitchFamily="34" charset="0"/>
              </a:rPr>
              <a:t>m</a:t>
            </a:r>
            <a:r>
              <a:rPr lang="pt-BR" sz="2800" dirty="0" smtClean="0">
                <a:latin typeface="Bahnschrift Light" pitchFamily="34" charset="0"/>
              </a:rPr>
              <a:t> = </a:t>
            </a:r>
            <a:r>
              <a:rPr lang="pt-BR" sz="2800" dirty="0" err="1" smtClean="0">
                <a:latin typeface="Bahnschrift Light" pitchFamily="34" charset="0"/>
              </a:rPr>
              <a:t>V</a:t>
            </a:r>
            <a:r>
              <a:rPr lang="pt-BR" sz="2800" baseline="-25000" dirty="0" err="1" smtClean="0">
                <a:latin typeface="Bahnschrift Light" pitchFamily="34" charset="0"/>
              </a:rPr>
              <a:t>p</a:t>
            </a:r>
            <a:r>
              <a:rPr lang="pt-BR" sz="2800" dirty="0" smtClean="0">
                <a:latin typeface="Bahnschrift Light" pitchFamily="34" charset="0"/>
              </a:rPr>
              <a:t>/π</a:t>
            </a:r>
          </a:p>
          <a:p>
            <a:pPr marL="0" algn="just">
              <a:buNone/>
            </a:pPr>
            <a:endParaRPr lang="pt-BR" sz="2800" dirty="0" smtClean="0">
              <a:latin typeface="Bahnschrift Light" pitchFamily="34" charset="0"/>
            </a:endParaRPr>
          </a:p>
          <a:p>
            <a:pPr marL="0" algn="just">
              <a:buNone/>
            </a:pPr>
            <a:r>
              <a:rPr lang="pt-BR" sz="2800" dirty="0" smtClean="0">
                <a:latin typeface="Bahnschrift Light" pitchFamily="34" charset="0"/>
              </a:rPr>
              <a:t>Diodo real </a:t>
            </a:r>
            <a:r>
              <a:rPr lang="pt-BR" sz="2800" dirty="0" err="1" smtClean="0">
                <a:latin typeface="Bahnschrift Light" pitchFamily="34" charset="0"/>
              </a:rPr>
              <a:t>V</a:t>
            </a:r>
            <a:r>
              <a:rPr lang="pt-BR" sz="2800" baseline="-25000" dirty="0" err="1" smtClean="0">
                <a:latin typeface="Bahnschrift Light" pitchFamily="34" charset="0"/>
              </a:rPr>
              <a:t>m</a:t>
            </a:r>
            <a:r>
              <a:rPr lang="pt-BR" sz="2800" dirty="0" smtClean="0">
                <a:latin typeface="Bahnschrift Light" pitchFamily="34" charset="0"/>
              </a:rPr>
              <a:t> = (</a:t>
            </a:r>
            <a:r>
              <a:rPr lang="pt-BR" sz="2800" dirty="0" err="1" smtClean="0">
                <a:latin typeface="Bahnschrift Light" pitchFamily="34" charset="0"/>
              </a:rPr>
              <a:t>V</a:t>
            </a:r>
            <a:r>
              <a:rPr lang="pt-BR" sz="2800" baseline="-25000" dirty="0" err="1" smtClean="0">
                <a:latin typeface="Bahnschrift Light" pitchFamily="34" charset="0"/>
              </a:rPr>
              <a:t>p</a:t>
            </a:r>
            <a:r>
              <a:rPr lang="pt-BR" sz="2800" dirty="0" smtClean="0">
                <a:latin typeface="Bahnschrift Light" pitchFamily="34" charset="0"/>
              </a:rPr>
              <a:t> – V</a:t>
            </a:r>
            <a:r>
              <a:rPr lang="pt-BR" sz="2800" baseline="-25000" dirty="0" smtClean="0">
                <a:latin typeface="Bahnschrift Light" pitchFamily="34" charset="0"/>
              </a:rPr>
              <a:t>γ</a:t>
            </a:r>
            <a:r>
              <a:rPr lang="pt-BR" sz="2800" dirty="0" smtClean="0">
                <a:latin typeface="Bahnschrift Light" pitchFamily="34" charset="0"/>
              </a:rPr>
              <a:t>)/π</a:t>
            </a:r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74116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0" t="0" r="0" b="0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0" t="0" r="0" b="0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0" t="0" r="0" b="0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0" t="0" r="0" b="0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0" name="Picture 2" descr="Resultado de imagem para uniceub 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452320" y="195486"/>
            <a:ext cx="1514899" cy="51126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4" y="392575"/>
            <a:ext cx="5485917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pt-BR" dirty="0" smtClean="0">
                <a:latin typeface="Bahnschrift Light" pitchFamily="34" charset="0"/>
              </a:rPr>
              <a:t>ELETRÔNICA I – </a:t>
            </a:r>
            <a:r>
              <a:rPr lang="pt-BR" dirty="0" smtClean="0">
                <a:latin typeface="Bahnschrift Light" pitchFamily="34" charset="0"/>
                <a:cs typeface="Arial" pitchFamily="34" charset="0"/>
              </a:rPr>
              <a:t>RETIFICADOR DE MEIA ONDA</a:t>
            </a:r>
            <a:endParaRPr dirty="0">
              <a:latin typeface="Bahnschrift Light" pitchFamily="34" charset="0"/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15</a:t>
            </a:fld>
            <a:endParaRPr/>
          </a:p>
        </p:txBody>
      </p:sp>
      <p:sp>
        <p:nvSpPr>
          <p:cNvPr id="193" name="Google Shape;193;p12"/>
          <p:cNvSpPr txBox="1">
            <a:spLocks noGrp="1"/>
          </p:cNvSpPr>
          <p:nvPr>
            <p:ph type="body" idx="1"/>
          </p:nvPr>
        </p:nvSpPr>
        <p:spPr>
          <a:xfrm>
            <a:off x="251520" y="1347615"/>
            <a:ext cx="8640960" cy="33843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algn="just">
              <a:buNone/>
            </a:pPr>
            <a:r>
              <a:rPr lang="pt-BR" sz="2800" dirty="0" smtClean="0">
                <a:latin typeface="Bahnschrift Light" pitchFamily="34" charset="0"/>
              </a:rPr>
              <a:t>Assim, pode-se calcular a corrente média na carga (que é igual à corrente média no diodo) da seguinte forma: Corrente média na carga  </a:t>
            </a:r>
            <a:r>
              <a:rPr lang="pt-BR" sz="2800" dirty="0" err="1" smtClean="0">
                <a:latin typeface="Bahnschrift Light" pitchFamily="34" charset="0"/>
              </a:rPr>
              <a:t>I</a:t>
            </a:r>
            <a:r>
              <a:rPr lang="pt-BR" sz="2800" baseline="-25000" dirty="0" err="1" smtClean="0">
                <a:latin typeface="Bahnschrift Light" pitchFamily="34" charset="0"/>
              </a:rPr>
              <a:t>m</a:t>
            </a:r>
            <a:r>
              <a:rPr lang="pt-BR" sz="2800" dirty="0" smtClean="0">
                <a:latin typeface="Bahnschrift Light" pitchFamily="34" charset="0"/>
              </a:rPr>
              <a:t> = </a:t>
            </a:r>
            <a:r>
              <a:rPr lang="pt-BR" sz="2800" dirty="0" err="1" smtClean="0">
                <a:latin typeface="Bahnschrift Light" pitchFamily="34" charset="0"/>
              </a:rPr>
              <a:t>V</a:t>
            </a:r>
            <a:r>
              <a:rPr lang="pt-BR" sz="2800" baseline="-25000" dirty="0" err="1" smtClean="0">
                <a:latin typeface="Bahnschrift Light" pitchFamily="34" charset="0"/>
              </a:rPr>
              <a:t>m</a:t>
            </a:r>
            <a:r>
              <a:rPr lang="pt-BR" sz="2800" dirty="0" smtClean="0">
                <a:latin typeface="Bahnschrift Light" pitchFamily="34" charset="0"/>
              </a:rPr>
              <a:t>/R</a:t>
            </a:r>
            <a:r>
              <a:rPr lang="pt-BR" sz="2800" baseline="-25000" dirty="0" smtClean="0">
                <a:latin typeface="Bahnschrift Light" pitchFamily="34" charset="0"/>
              </a:rPr>
              <a:t>L</a:t>
            </a:r>
          </a:p>
          <a:p>
            <a:pPr marL="0" algn="just">
              <a:buNone/>
            </a:pPr>
            <a:r>
              <a:rPr lang="pt-BR" sz="2800" dirty="0" smtClean="0">
                <a:latin typeface="Bahnschrift Light" pitchFamily="34" charset="0"/>
              </a:rPr>
              <a:t>Desta forma, para que o diodo não queime, ele deve suportar tanto a corrente de pico na carga quanto a tensão de pico reversa. </a:t>
            </a:r>
          </a:p>
          <a:p>
            <a:pPr marL="0" algn="just">
              <a:buNone/>
            </a:pPr>
            <a:r>
              <a:rPr lang="pt-BR" sz="2800" dirty="0" smtClean="0">
                <a:latin typeface="Bahnschrift Light" pitchFamily="34" charset="0"/>
              </a:rPr>
              <a:t>		     I</a:t>
            </a:r>
            <a:r>
              <a:rPr lang="pt-BR" sz="2800" baseline="-25000" dirty="0" smtClean="0">
                <a:latin typeface="Bahnschrift Light" pitchFamily="34" charset="0"/>
              </a:rPr>
              <a:t>DM</a:t>
            </a:r>
            <a:r>
              <a:rPr lang="pt-BR" sz="2800" dirty="0" smtClean="0">
                <a:latin typeface="Bahnschrift Light" pitchFamily="34" charset="0"/>
              </a:rPr>
              <a:t> &gt;=</a:t>
            </a:r>
            <a:r>
              <a:rPr lang="pt-BR" sz="2800" dirty="0" err="1" smtClean="0">
                <a:latin typeface="Bahnschrift Light" pitchFamily="34" charset="0"/>
              </a:rPr>
              <a:t>I</a:t>
            </a:r>
            <a:r>
              <a:rPr lang="pt-BR" sz="2800" baseline="-25000" dirty="0" err="1" smtClean="0">
                <a:latin typeface="Bahnschrift Light" pitchFamily="34" charset="0"/>
              </a:rPr>
              <a:t>p</a:t>
            </a:r>
            <a:r>
              <a:rPr lang="pt-BR" sz="2800" dirty="0" smtClean="0">
                <a:latin typeface="Bahnschrift Light" pitchFamily="34" charset="0"/>
              </a:rPr>
              <a:t>     e     V</a:t>
            </a:r>
            <a:r>
              <a:rPr lang="pt-BR" sz="2800" baseline="-25000" dirty="0" smtClean="0">
                <a:latin typeface="Bahnschrift Light" pitchFamily="34" charset="0"/>
              </a:rPr>
              <a:t>BR</a:t>
            </a:r>
            <a:r>
              <a:rPr lang="pt-BR" sz="2800" dirty="0" smtClean="0">
                <a:latin typeface="Bahnschrift Light" pitchFamily="34" charset="0"/>
              </a:rPr>
              <a:t>&gt;=</a:t>
            </a:r>
            <a:r>
              <a:rPr lang="pt-BR" sz="2800" dirty="0" err="1" smtClean="0">
                <a:latin typeface="Bahnschrift Light" pitchFamily="34" charset="0"/>
              </a:rPr>
              <a:t>V</a:t>
            </a:r>
            <a:r>
              <a:rPr lang="pt-BR" sz="2800" baseline="-25000" dirty="0" err="1" smtClean="0">
                <a:latin typeface="Bahnschrift Light" pitchFamily="34" charset="0"/>
              </a:rPr>
              <a:t>p</a:t>
            </a:r>
            <a:endParaRPr lang="pt-BR" sz="2800" baseline="-25000" dirty="0" smtClean="0">
              <a:latin typeface="Bahnschrift Light" pitchFamily="34" charset="0"/>
            </a:endParaRPr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74116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0" t="0" r="0" b="0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0" t="0" r="0" b="0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0" t="0" r="0" b="0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0" t="0" r="0" b="0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0" name="Picture 2" descr="Resultado de imagem para uniceub 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452320" y="195486"/>
            <a:ext cx="1514899" cy="51126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34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16</a:t>
            </a:fld>
            <a:endParaRPr/>
          </a:p>
        </p:txBody>
      </p:sp>
      <p:sp>
        <p:nvSpPr>
          <p:cNvPr id="26629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26630" name="Rectangle 6"/>
          <p:cNvSpPr>
            <a:spLocks noChangeArrowheads="1"/>
          </p:cNvSpPr>
          <p:nvPr/>
        </p:nvSpPr>
        <p:spPr bwMode="auto">
          <a:xfrm>
            <a:off x="0" y="9525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6632" name="Rectangle 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26633" name="Rectangle 9"/>
          <p:cNvSpPr>
            <a:spLocks noChangeArrowheads="1"/>
          </p:cNvSpPr>
          <p:nvPr/>
        </p:nvSpPr>
        <p:spPr bwMode="auto">
          <a:xfrm>
            <a:off x="0" y="13239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6635" name="Rectangle 1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26636" name="Rectangle 12"/>
          <p:cNvSpPr>
            <a:spLocks noChangeArrowheads="1"/>
          </p:cNvSpPr>
          <p:nvPr/>
        </p:nvSpPr>
        <p:spPr bwMode="auto">
          <a:xfrm>
            <a:off x="0" y="9334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Subtítulo 2"/>
          <p:cNvSpPr txBox="1">
            <a:spLocks/>
          </p:cNvSpPr>
          <p:nvPr/>
        </p:nvSpPr>
        <p:spPr>
          <a:xfrm>
            <a:off x="179512" y="1923678"/>
            <a:ext cx="8749480" cy="2970330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ahnschrift Light" pitchFamily="34" charset="0"/>
                <a:sym typeface="Arial"/>
              </a:rPr>
              <a:t>O transformador acima tem uma relação entre as espiras de 10:1. A carga é de 10</a:t>
            </a:r>
            <a:r>
              <a:rPr kumimoji="0" lang="el-GR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ahnschrift Light" pitchFamily="34" charset="0"/>
                <a:sym typeface="Arial"/>
              </a:rPr>
              <a:t>Ω</a:t>
            </a:r>
            <a:r>
              <a:rPr kumimoji="0" lang="pt-BR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ahnschrift Light" pitchFamily="34" charset="0"/>
                <a:sym typeface="Arial"/>
              </a:rPr>
              <a:t>. Calcule: 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2200" b="0" i="0" u="none" strike="noStrike" kern="0" cap="none" spc="0" normalizeH="0" baseline="0" noProof="0" dirty="0" smtClean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Bahnschrift Light" pitchFamily="34" charset="0"/>
              <a:sym typeface="Arial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ahnschrift Light" pitchFamily="34" charset="0"/>
                <a:sym typeface="Arial"/>
              </a:rPr>
              <a:t>a) A tensão rms e de pico no secundário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ahnschrift Light" pitchFamily="34" charset="0"/>
                <a:sym typeface="Arial"/>
              </a:rPr>
              <a:t>b) A tensão média na carga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ahnschrift Light" pitchFamily="34" charset="0"/>
                <a:sym typeface="Arial"/>
              </a:rPr>
              <a:t>c) A corrente média na carga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ahnschrift Light" pitchFamily="34" charset="0"/>
                <a:sym typeface="Arial"/>
              </a:rPr>
              <a:t>d) Especificações do diodo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ahnschrift Light" pitchFamily="34" charset="0"/>
                <a:sym typeface="Arial"/>
              </a:rPr>
              <a:t>e) Formas de onda na entrada, na carga e no diodo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</a:t>
            </a:r>
            <a:endParaRPr kumimoji="0" lang="pt-BR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" name="Picture 1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835696" y="51470"/>
            <a:ext cx="5002509" cy="1728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2" descr="Resultado de imagem para uniceub 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452320" y="195486"/>
            <a:ext cx="1514899" cy="51126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34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17</a:t>
            </a:fld>
            <a:endParaRPr/>
          </a:p>
        </p:txBody>
      </p:sp>
      <p:sp>
        <p:nvSpPr>
          <p:cNvPr id="503" name="Google Shape;503;p34"/>
          <p:cNvSpPr txBox="1">
            <a:spLocks noGrp="1"/>
          </p:cNvSpPr>
          <p:nvPr>
            <p:ph type="ctrTitle" idx="4294967295"/>
          </p:nvPr>
        </p:nvSpPr>
        <p:spPr>
          <a:xfrm>
            <a:off x="1275150" y="2364400"/>
            <a:ext cx="65937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rgbClr val="FF9800"/>
                </a:solidFill>
              </a:rPr>
              <a:t>THANKS!</a:t>
            </a:r>
            <a:endParaRPr sz="6000">
              <a:solidFill>
                <a:srgbClr val="FF9800"/>
              </a:solidFill>
            </a:endParaRPr>
          </a:p>
        </p:txBody>
      </p:sp>
      <p:sp>
        <p:nvSpPr>
          <p:cNvPr id="504" name="Google Shape;504;p34"/>
          <p:cNvSpPr txBox="1">
            <a:spLocks noGrp="1"/>
          </p:cNvSpPr>
          <p:nvPr>
            <p:ph type="subTitle" idx="4294967295"/>
          </p:nvPr>
        </p:nvSpPr>
        <p:spPr>
          <a:xfrm>
            <a:off x="1275150" y="3230000"/>
            <a:ext cx="6593700" cy="134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/>
              <a:t>Any questions</a:t>
            </a:r>
            <a:r>
              <a:rPr lang="en" sz="2000" b="1" dirty="0" smtClean="0"/>
              <a:t>?</a:t>
            </a:r>
            <a:endParaRPr sz="2000" b="1" dirty="0"/>
          </a:p>
        </p:txBody>
      </p:sp>
      <p:grpSp>
        <p:nvGrpSpPr>
          <p:cNvPr id="2" name="Google Shape;505;p34"/>
          <p:cNvGrpSpPr/>
          <p:nvPr/>
        </p:nvGrpSpPr>
        <p:grpSpPr>
          <a:xfrm>
            <a:off x="3996210" y="966817"/>
            <a:ext cx="1197664" cy="1126777"/>
            <a:chOff x="5972700" y="2330200"/>
            <a:chExt cx="411625" cy="387275"/>
          </a:xfrm>
        </p:grpSpPr>
        <p:sp>
          <p:nvSpPr>
            <p:cNvPr id="506" name="Google Shape;506;p34"/>
            <p:cNvSpPr/>
            <p:nvPr/>
          </p:nvSpPr>
          <p:spPr>
            <a:xfrm>
              <a:off x="5972700" y="2476950"/>
              <a:ext cx="98050" cy="219825"/>
            </a:xfrm>
            <a:custGeom>
              <a:avLst/>
              <a:gdLst/>
              <a:ahLst/>
              <a:cxnLst/>
              <a:rect l="0" t="0" r="0" b="0"/>
              <a:pathLst>
                <a:path w="3922" h="8793" fill="none" extrusionOk="0">
                  <a:moveTo>
                    <a:pt x="0" y="0"/>
                  </a:moveTo>
                  <a:lnTo>
                    <a:pt x="0" y="8792"/>
                  </a:lnTo>
                  <a:lnTo>
                    <a:pt x="3921" y="8792"/>
                  </a:lnTo>
                  <a:lnTo>
                    <a:pt x="3921" y="0"/>
                  </a:lnTo>
                  <a:lnTo>
                    <a:pt x="0" y="0"/>
                  </a:lnTo>
                  <a:close/>
                  <a:moveTo>
                    <a:pt x="2411" y="2411"/>
                  </a:moveTo>
                  <a:lnTo>
                    <a:pt x="2411" y="2411"/>
                  </a:lnTo>
                  <a:lnTo>
                    <a:pt x="2265" y="2387"/>
                  </a:lnTo>
                  <a:lnTo>
                    <a:pt x="2143" y="2363"/>
                  </a:lnTo>
                  <a:lnTo>
                    <a:pt x="2022" y="2290"/>
                  </a:lnTo>
                  <a:lnTo>
                    <a:pt x="1924" y="2216"/>
                  </a:lnTo>
                  <a:lnTo>
                    <a:pt x="1827" y="2095"/>
                  </a:lnTo>
                  <a:lnTo>
                    <a:pt x="1754" y="1973"/>
                  </a:lnTo>
                  <a:lnTo>
                    <a:pt x="1729" y="1851"/>
                  </a:lnTo>
                  <a:lnTo>
                    <a:pt x="1705" y="1705"/>
                  </a:lnTo>
                  <a:lnTo>
                    <a:pt x="1705" y="1705"/>
                  </a:lnTo>
                  <a:lnTo>
                    <a:pt x="1729" y="1559"/>
                  </a:lnTo>
                  <a:lnTo>
                    <a:pt x="1754" y="1437"/>
                  </a:lnTo>
                  <a:lnTo>
                    <a:pt x="1827" y="1315"/>
                  </a:lnTo>
                  <a:lnTo>
                    <a:pt x="1924" y="1218"/>
                  </a:lnTo>
                  <a:lnTo>
                    <a:pt x="2022" y="1120"/>
                  </a:lnTo>
                  <a:lnTo>
                    <a:pt x="2143" y="1072"/>
                  </a:lnTo>
                  <a:lnTo>
                    <a:pt x="2265" y="1023"/>
                  </a:lnTo>
                  <a:lnTo>
                    <a:pt x="2411" y="999"/>
                  </a:lnTo>
                  <a:lnTo>
                    <a:pt x="2411" y="999"/>
                  </a:lnTo>
                  <a:lnTo>
                    <a:pt x="2557" y="1023"/>
                  </a:lnTo>
                  <a:lnTo>
                    <a:pt x="2679" y="1072"/>
                  </a:lnTo>
                  <a:lnTo>
                    <a:pt x="2801" y="1120"/>
                  </a:lnTo>
                  <a:lnTo>
                    <a:pt x="2898" y="1218"/>
                  </a:lnTo>
                  <a:lnTo>
                    <a:pt x="2996" y="1315"/>
                  </a:lnTo>
                  <a:lnTo>
                    <a:pt x="3069" y="1437"/>
                  </a:lnTo>
                  <a:lnTo>
                    <a:pt x="3093" y="1559"/>
                  </a:lnTo>
                  <a:lnTo>
                    <a:pt x="3118" y="1705"/>
                  </a:lnTo>
                  <a:lnTo>
                    <a:pt x="3118" y="1705"/>
                  </a:lnTo>
                  <a:lnTo>
                    <a:pt x="3093" y="1851"/>
                  </a:lnTo>
                  <a:lnTo>
                    <a:pt x="3069" y="1973"/>
                  </a:lnTo>
                  <a:lnTo>
                    <a:pt x="2996" y="2095"/>
                  </a:lnTo>
                  <a:lnTo>
                    <a:pt x="2898" y="2216"/>
                  </a:lnTo>
                  <a:lnTo>
                    <a:pt x="2801" y="2290"/>
                  </a:lnTo>
                  <a:lnTo>
                    <a:pt x="2679" y="2363"/>
                  </a:lnTo>
                  <a:lnTo>
                    <a:pt x="2557" y="2387"/>
                  </a:lnTo>
                  <a:lnTo>
                    <a:pt x="2411" y="2411"/>
                  </a:lnTo>
                  <a:lnTo>
                    <a:pt x="2411" y="2411"/>
                  </a:lnTo>
                  <a:close/>
                </a:path>
              </a:pathLst>
            </a:custGeom>
            <a:noFill/>
            <a:ln w="19050" cap="rnd" cmpd="sng">
              <a:solidFill>
                <a:srgbClr val="3F537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34"/>
            <p:cNvSpPr/>
            <p:nvPr/>
          </p:nvSpPr>
          <p:spPr>
            <a:xfrm>
              <a:off x="6078025" y="2330200"/>
              <a:ext cx="306300" cy="387275"/>
            </a:xfrm>
            <a:custGeom>
              <a:avLst/>
              <a:gdLst/>
              <a:ahLst/>
              <a:cxnLst/>
              <a:rect l="0" t="0" r="0" b="0"/>
              <a:pathLst>
                <a:path w="12252" h="15491" fill="none" extrusionOk="0">
                  <a:moveTo>
                    <a:pt x="1" y="13396"/>
                  </a:moveTo>
                  <a:lnTo>
                    <a:pt x="1511" y="13396"/>
                  </a:lnTo>
                  <a:lnTo>
                    <a:pt x="1511" y="13396"/>
                  </a:lnTo>
                  <a:lnTo>
                    <a:pt x="1998" y="13639"/>
                  </a:lnTo>
                  <a:lnTo>
                    <a:pt x="2680" y="13932"/>
                  </a:lnTo>
                  <a:lnTo>
                    <a:pt x="3556" y="14273"/>
                  </a:lnTo>
                  <a:lnTo>
                    <a:pt x="4531" y="14638"/>
                  </a:lnTo>
                  <a:lnTo>
                    <a:pt x="5578" y="14955"/>
                  </a:lnTo>
                  <a:lnTo>
                    <a:pt x="6114" y="15101"/>
                  </a:lnTo>
                  <a:lnTo>
                    <a:pt x="6650" y="15222"/>
                  </a:lnTo>
                  <a:lnTo>
                    <a:pt x="7161" y="15344"/>
                  </a:lnTo>
                  <a:lnTo>
                    <a:pt x="7672" y="15417"/>
                  </a:lnTo>
                  <a:lnTo>
                    <a:pt x="8135" y="15466"/>
                  </a:lnTo>
                  <a:lnTo>
                    <a:pt x="8598" y="15490"/>
                  </a:lnTo>
                  <a:lnTo>
                    <a:pt x="8598" y="15490"/>
                  </a:lnTo>
                  <a:lnTo>
                    <a:pt x="9377" y="15490"/>
                  </a:lnTo>
                  <a:lnTo>
                    <a:pt x="9791" y="15466"/>
                  </a:lnTo>
                  <a:lnTo>
                    <a:pt x="10181" y="15417"/>
                  </a:lnTo>
                  <a:lnTo>
                    <a:pt x="10522" y="15320"/>
                  </a:lnTo>
                  <a:lnTo>
                    <a:pt x="10692" y="15271"/>
                  </a:lnTo>
                  <a:lnTo>
                    <a:pt x="10814" y="15222"/>
                  </a:lnTo>
                  <a:lnTo>
                    <a:pt x="10936" y="15149"/>
                  </a:lnTo>
                  <a:lnTo>
                    <a:pt x="11033" y="15052"/>
                  </a:lnTo>
                  <a:lnTo>
                    <a:pt x="11082" y="14955"/>
                  </a:lnTo>
                  <a:lnTo>
                    <a:pt x="11131" y="14833"/>
                  </a:lnTo>
                  <a:lnTo>
                    <a:pt x="11204" y="14126"/>
                  </a:lnTo>
                  <a:lnTo>
                    <a:pt x="11204" y="14126"/>
                  </a:lnTo>
                  <a:lnTo>
                    <a:pt x="11180" y="13956"/>
                  </a:lnTo>
                  <a:lnTo>
                    <a:pt x="11131" y="13810"/>
                  </a:lnTo>
                  <a:lnTo>
                    <a:pt x="11033" y="13664"/>
                  </a:lnTo>
                  <a:lnTo>
                    <a:pt x="10887" y="13542"/>
                  </a:lnTo>
                  <a:lnTo>
                    <a:pt x="10887" y="13542"/>
                  </a:lnTo>
                  <a:lnTo>
                    <a:pt x="11009" y="13518"/>
                  </a:lnTo>
                  <a:lnTo>
                    <a:pt x="11131" y="13469"/>
                  </a:lnTo>
                  <a:lnTo>
                    <a:pt x="11253" y="13420"/>
                  </a:lnTo>
                  <a:lnTo>
                    <a:pt x="11350" y="13323"/>
                  </a:lnTo>
                  <a:lnTo>
                    <a:pt x="11423" y="13225"/>
                  </a:lnTo>
                  <a:lnTo>
                    <a:pt x="11496" y="13104"/>
                  </a:lnTo>
                  <a:lnTo>
                    <a:pt x="11545" y="12957"/>
                  </a:lnTo>
                  <a:lnTo>
                    <a:pt x="11569" y="12836"/>
                  </a:lnTo>
                  <a:lnTo>
                    <a:pt x="11642" y="11959"/>
                  </a:lnTo>
                  <a:lnTo>
                    <a:pt x="11642" y="11959"/>
                  </a:lnTo>
                  <a:lnTo>
                    <a:pt x="11642" y="11837"/>
                  </a:lnTo>
                  <a:lnTo>
                    <a:pt x="11642" y="11740"/>
                  </a:lnTo>
                  <a:lnTo>
                    <a:pt x="11618" y="11618"/>
                  </a:lnTo>
                  <a:lnTo>
                    <a:pt x="11569" y="11521"/>
                  </a:lnTo>
                  <a:lnTo>
                    <a:pt x="11447" y="11350"/>
                  </a:lnTo>
                  <a:lnTo>
                    <a:pt x="11374" y="11277"/>
                  </a:lnTo>
                  <a:lnTo>
                    <a:pt x="11301" y="11204"/>
                  </a:lnTo>
                  <a:lnTo>
                    <a:pt x="11301" y="11204"/>
                  </a:lnTo>
                  <a:lnTo>
                    <a:pt x="11423" y="11180"/>
                  </a:lnTo>
                  <a:lnTo>
                    <a:pt x="11521" y="11131"/>
                  </a:lnTo>
                  <a:lnTo>
                    <a:pt x="11618" y="11058"/>
                  </a:lnTo>
                  <a:lnTo>
                    <a:pt x="11715" y="10960"/>
                  </a:lnTo>
                  <a:lnTo>
                    <a:pt x="11788" y="10863"/>
                  </a:lnTo>
                  <a:lnTo>
                    <a:pt x="11837" y="10766"/>
                  </a:lnTo>
                  <a:lnTo>
                    <a:pt x="11886" y="10644"/>
                  </a:lnTo>
                  <a:lnTo>
                    <a:pt x="11910" y="10498"/>
                  </a:lnTo>
                  <a:lnTo>
                    <a:pt x="11983" y="9645"/>
                  </a:lnTo>
                  <a:lnTo>
                    <a:pt x="11983" y="9645"/>
                  </a:lnTo>
                  <a:lnTo>
                    <a:pt x="11983" y="9523"/>
                  </a:lnTo>
                  <a:lnTo>
                    <a:pt x="11983" y="9402"/>
                  </a:lnTo>
                  <a:lnTo>
                    <a:pt x="11959" y="9280"/>
                  </a:lnTo>
                  <a:lnTo>
                    <a:pt x="11910" y="9182"/>
                  </a:lnTo>
                  <a:lnTo>
                    <a:pt x="11861" y="9085"/>
                  </a:lnTo>
                  <a:lnTo>
                    <a:pt x="11788" y="9012"/>
                  </a:lnTo>
                  <a:lnTo>
                    <a:pt x="11715" y="8939"/>
                  </a:lnTo>
                  <a:lnTo>
                    <a:pt x="11618" y="8866"/>
                  </a:lnTo>
                  <a:lnTo>
                    <a:pt x="11618" y="8866"/>
                  </a:lnTo>
                  <a:lnTo>
                    <a:pt x="11715" y="8841"/>
                  </a:lnTo>
                  <a:lnTo>
                    <a:pt x="11813" y="8768"/>
                  </a:lnTo>
                  <a:lnTo>
                    <a:pt x="11910" y="8695"/>
                  </a:lnTo>
                  <a:lnTo>
                    <a:pt x="11983" y="8622"/>
                  </a:lnTo>
                  <a:lnTo>
                    <a:pt x="12056" y="8525"/>
                  </a:lnTo>
                  <a:lnTo>
                    <a:pt x="12105" y="8427"/>
                  </a:lnTo>
                  <a:lnTo>
                    <a:pt x="12129" y="8306"/>
                  </a:lnTo>
                  <a:lnTo>
                    <a:pt x="12154" y="8184"/>
                  </a:lnTo>
                  <a:lnTo>
                    <a:pt x="12251" y="7307"/>
                  </a:lnTo>
                  <a:lnTo>
                    <a:pt x="12251" y="7307"/>
                  </a:lnTo>
                  <a:lnTo>
                    <a:pt x="12227" y="7185"/>
                  </a:lnTo>
                  <a:lnTo>
                    <a:pt x="12202" y="7064"/>
                  </a:lnTo>
                  <a:lnTo>
                    <a:pt x="12154" y="6966"/>
                  </a:lnTo>
                  <a:lnTo>
                    <a:pt x="12105" y="6869"/>
                  </a:lnTo>
                  <a:lnTo>
                    <a:pt x="12032" y="6771"/>
                  </a:lnTo>
                  <a:lnTo>
                    <a:pt x="11935" y="6698"/>
                  </a:lnTo>
                  <a:lnTo>
                    <a:pt x="11715" y="6552"/>
                  </a:lnTo>
                  <a:lnTo>
                    <a:pt x="11472" y="6430"/>
                  </a:lnTo>
                  <a:lnTo>
                    <a:pt x="11180" y="6333"/>
                  </a:lnTo>
                  <a:lnTo>
                    <a:pt x="10863" y="6260"/>
                  </a:lnTo>
                  <a:lnTo>
                    <a:pt x="10546" y="6211"/>
                  </a:lnTo>
                  <a:lnTo>
                    <a:pt x="10546" y="6211"/>
                  </a:lnTo>
                  <a:lnTo>
                    <a:pt x="9864" y="6114"/>
                  </a:lnTo>
                  <a:lnTo>
                    <a:pt x="8817" y="6016"/>
                  </a:lnTo>
                  <a:lnTo>
                    <a:pt x="7575" y="5943"/>
                  </a:lnTo>
                  <a:lnTo>
                    <a:pt x="6309" y="5870"/>
                  </a:lnTo>
                  <a:lnTo>
                    <a:pt x="6309" y="5870"/>
                  </a:lnTo>
                  <a:lnTo>
                    <a:pt x="6479" y="5578"/>
                  </a:lnTo>
                  <a:lnTo>
                    <a:pt x="6625" y="5237"/>
                  </a:lnTo>
                  <a:lnTo>
                    <a:pt x="6771" y="4872"/>
                  </a:lnTo>
                  <a:lnTo>
                    <a:pt x="6869" y="4482"/>
                  </a:lnTo>
                  <a:lnTo>
                    <a:pt x="6966" y="4092"/>
                  </a:lnTo>
                  <a:lnTo>
                    <a:pt x="7064" y="3678"/>
                  </a:lnTo>
                  <a:lnTo>
                    <a:pt x="7161" y="2875"/>
                  </a:lnTo>
                  <a:lnTo>
                    <a:pt x="7234" y="2144"/>
                  </a:lnTo>
                  <a:lnTo>
                    <a:pt x="7283" y="1535"/>
                  </a:lnTo>
                  <a:lnTo>
                    <a:pt x="7283" y="975"/>
                  </a:lnTo>
                  <a:lnTo>
                    <a:pt x="7283" y="975"/>
                  </a:lnTo>
                  <a:lnTo>
                    <a:pt x="7283" y="804"/>
                  </a:lnTo>
                  <a:lnTo>
                    <a:pt x="7210" y="609"/>
                  </a:lnTo>
                  <a:lnTo>
                    <a:pt x="7137" y="463"/>
                  </a:lnTo>
                  <a:lnTo>
                    <a:pt x="7015" y="317"/>
                  </a:lnTo>
                  <a:lnTo>
                    <a:pt x="6869" y="171"/>
                  </a:lnTo>
                  <a:lnTo>
                    <a:pt x="6698" y="98"/>
                  </a:lnTo>
                  <a:lnTo>
                    <a:pt x="6503" y="25"/>
                  </a:lnTo>
                  <a:lnTo>
                    <a:pt x="6309" y="1"/>
                  </a:lnTo>
                  <a:lnTo>
                    <a:pt x="6309" y="1"/>
                  </a:lnTo>
                  <a:lnTo>
                    <a:pt x="5943" y="25"/>
                  </a:lnTo>
                  <a:lnTo>
                    <a:pt x="5700" y="74"/>
                  </a:lnTo>
                  <a:lnTo>
                    <a:pt x="5505" y="147"/>
                  </a:lnTo>
                  <a:lnTo>
                    <a:pt x="5359" y="220"/>
                  </a:lnTo>
                  <a:lnTo>
                    <a:pt x="5359" y="220"/>
                  </a:lnTo>
                  <a:lnTo>
                    <a:pt x="4969" y="1462"/>
                  </a:lnTo>
                  <a:lnTo>
                    <a:pt x="4774" y="2022"/>
                  </a:lnTo>
                  <a:lnTo>
                    <a:pt x="4579" y="2534"/>
                  </a:lnTo>
                  <a:lnTo>
                    <a:pt x="4385" y="2996"/>
                  </a:lnTo>
                  <a:lnTo>
                    <a:pt x="4190" y="3386"/>
                  </a:lnTo>
                  <a:lnTo>
                    <a:pt x="4019" y="3678"/>
                  </a:lnTo>
                  <a:lnTo>
                    <a:pt x="3873" y="3922"/>
                  </a:lnTo>
                  <a:lnTo>
                    <a:pt x="3873" y="3922"/>
                  </a:lnTo>
                  <a:lnTo>
                    <a:pt x="3654" y="4141"/>
                  </a:lnTo>
                  <a:lnTo>
                    <a:pt x="3313" y="4482"/>
                  </a:lnTo>
                  <a:lnTo>
                    <a:pt x="2509" y="5237"/>
                  </a:lnTo>
                  <a:lnTo>
                    <a:pt x="1438" y="6211"/>
                  </a:lnTo>
                  <a:lnTo>
                    <a:pt x="1" y="6211"/>
                  </a:lnTo>
                </a:path>
              </a:pathLst>
            </a:custGeom>
            <a:noFill/>
            <a:ln w="19050" cap="rnd" cmpd="sng">
              <a:solidFill>
                <a:srgbClr val="3F537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alerio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2830</TotalTime>
  <Words>566</Words>
  <Application>Microsoft Office PowerPoint</Application>
  <PresentationFormat>Apresentação na tela (16:9)</PresentationFormat>
  <Paragraphs>64</Paragraphs>
  <Slides>17</Slides>
  <Notes>17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3" baseType="lpstr">
      <vt:lpstr>Arial</vt:lpstr>
      <vt:lpstr>Bahnschrift Light</vt:lpstr>
      <vt:lpstr>Roboto Condensed</vt:lpstr>
      <vt:lpstr>Roboto Condensed Light</vt:lpstr>
      <vt:lpstr>Arvo</vt:lpstr>
      <vt:lpstr>Salerio template</vt:lpstr>
      <vt:lpstr>ELETRÔNICA I  RETIFICADOR DE MEIA ONDA</vt:lpstr>
      <vt:lpstr>ELETRÔNICA I – RETIFICADOR DE MEIA ONDA</vt:lpstr>
      <vt:lpstr>ELETRÔNICA I – RETIFICADOR DE MEIA ONDA</vt:lpstr>
      <vt:lpstr>ELETRÔNICA I – RETIFICADOR DE MEIA ONDA</vt:lpstr>
      <vt:lpstr>ELETRÔNICA I – RETIFICADOR DE MEIA ONDA</vt:lpstr>
      <vt:lpstr>ELETRÔNICA I – RETIFICADOR DE MEIA ONDA</vt:lpstr>
      <vt:lpstr>Slide 7</vt:lpstr>
      <vt:lpstr>ELETRÔNICA I – RETIFICADOR DE MEIA ONDA</vt:lpstr>
      <vt:lpstr>ELETRÔNICA I – RETIFICADOR DE MEIA ONDA</vt:lpstr>
      <vt:lpstr>Slide 10</vt:lpstr>
      <vt:lpstr>ELETRÔNICA I – RETIFICADOR DE MEIA ONDA</vt:lpstr>
      <vt:lpstr>ELETRÔNICA I – RETIFICADOR DE MEIA ONDA</vt:lpstr>
      <vt:lpstr>Slide 13</vt:lpstr>
      <vt:lpstr>ELETRÔNICA I – RETIFICADOR DE MEIA ONDA</vt:lpstr>
      <vt:lpstr>ELETRÔNICA I – RETIFICADOR DE MEIA ONDA</vt:lpstr>
      <vt:lpstr>Slide 16</vt:lpstr>
      <vt:lpstr>THANKS!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SISTEMAS DE MEDIÇÃO E CONTROLE ELÉTRICOS</dc:title>
  <dc:creator>Hudson Capanema</dc:creator>
  <cp:lastModifiedBy>Hudson Capanema</cp:lastModifiedBy>
  <cp:revision>117</cp:revision>
  <dcterms:modified xsi:type="dcterms:W3CDTF">2020-08-25T21:58:44Z</dcterms:modified>
</cp:coreProperties>
</file>